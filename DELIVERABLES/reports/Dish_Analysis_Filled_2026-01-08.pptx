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2D46"/>
                </a:solidFill>
              </a:defRPr>
            </a:pPr>
            <a:r>
              <a:t>Family Dinneroo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58595B"/>
                </a:solidFill>
              </a:defRPr>
            </a:pPr>
            <a:r>
              <a:t>Dish Analysis - Data Pack</a:t>
            </a:r>
            <a:br/>
            <a:r>
              <a:t>Generated: 08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4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58595B"/>
                </a:solidFill>
              </a:defRPr>
            </a:pPr>
            <a:r>
              <a:t>Zone Performance (n=201 live zones)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33 zones (16%) are MVP Ready - these outperform others significantly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Data inflection at 3-4 partners/cuisines; business target is 5</a:t>
            </a:r>
          </a:p>
          <a:p>
            <a:pPr>
              <a:spcAft>
                <a:spcPts val="800"/>
              </a:spcAft>
              <a:defRPr>
                <a:solidFill>
                  <a:srgbClr val="58595B"/>
                </a:solidFill>
              </a:defRPr>
            </a:pPr>
          </a:p>
          <a:p>
            <a:pPr>
              <a:spcAft>
                <a:spcPts val="800"/>
              </a:spcAft>
              <a:defRPr b="1" sz="1600">
                <a:solidFill>
                  <a:srgbClr val="58595B"/>
                </a:solidFill>
              </a:defRPr>
            </a:pPr>
            <a:r>
              <a:t>Dish Prioritisation (23 dishes analysed)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8 Core Drivers generate 73% of sales with 88% satisfaction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5 Preference Drivers have highest satisfaction (90%) but low awareness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2 Demand Boosters need quality improvement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8 Deprioritised dishes should not be actively recruited</a:t>
            </a:r>
          </a:p>
          <a:p>
            <a:pPr>
              <a:spcAft>
                <a:spcPts val="800"/>
              </a:spcAft>
              <a:defRPr>
                <a:solidFill>
                  <a:srgbClr val="58595B"/>
                </a:solidFill>
              </a:defRPr>
            </a:pPr>
          </a:p>
          <a:p>
            <a:pPr>
              <a:spcAft>
                <a:spcPts val="800"/>
              </a:spcAft>
              <a:defRPr b="1" sz="1600">
                <a:solidFill>
                  <a:srgbClr val="58595B"/>
                </a:solidFill>
              </a:defRPr>
            </a:pPr>
            <a:r>
              <a:t>Key Insight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Pho alone is 28% of Core Driver sales - concentration risk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Indian Curry/Biryani have 74-79% coverage gaps - biggest opportunity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D46"/>
                </a:solidFill>
              </a:defRPr>
            </a:pPr>
            <a:r>
              <a:t>Slide 5: Zone MVP Rationale - Partners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595B"/>
                </a:solidFill>
              </a:defRPr>
            </a:pPr>
            <a:r>
              <a:t>Data inflection at 3-4 partners (+4.5pp repeat rate). Business target: 5+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7132320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645920"/>
                <a:gridCol w="1371600"/>
                <a:gridCol w="16459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Partners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Zones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Repeat Rate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Rating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Orders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10+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723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7-9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675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398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261</a:t>
                      </a:r>
                    </a:p>
                  </a:txBody>
                  <a:tcPr/>
                </a:tc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D46"/>
                </a:solidFill>
              </a:defRPr>
            </a:pPr>
            <a:r>
              <a:t>Slide 5: Zone MVP Rationale - Cuisines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595B"/>
                </a:solidFill>
              </a:defRPr>
            </a:pPr>
            <a:r>
              <a:t>Analysis controls for 3+ partners. Data inflection at 3-4 cuisines. Business target: 5+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71323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097280"/>
                <a:gridCol w="1645920"/>
                <a:gridCol w="1371600"/>
                <a:gridCol w="164592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Cuisines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Zones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Repeat Rate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Rating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Avg Orders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802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5-6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23.3%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490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3-4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296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1-2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223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D46"/>
                </a:solidFill>
              </a:defRPr>
            </a:pPr>
            <a:r>
              <a:t>Slide 6: Zone MVP Count - 33 zones (16%) MVP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595B"/>
                </a:solidFill>
              </a:defRPr>
            </a:pPr>
            <a:r>
              <a:t>Source: zone_mvp_status.json (n=201 zones with Snowflake order data)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77724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371600"/>
                <a:gridCol w="36576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Zones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% of Total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MVP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Rating ≥4.0, Repeat ≥20%, Cuisines ≥5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Near 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Missing 1 criterion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Developing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Missing 2+ criteria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Live zones with order data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D46"/>
                </a:solidFill>
              </a:defRPr>
            </a:pPr>
            <a:r>
              <a:t>Slide 7: Minimum Dishes by Zone - Tier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595B"/>
                </a:solidFill>
              </a:defRPr>
            </a:pPr>
            <a:r>
              <a:t>Core Drivers generate 9x more sales per dish than Deprioritised (59.9 vs 6.4)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371600"/>
                <a:gridCol w="1371600"/>
                <a:gridCol w="27432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Tier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Dishes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Sales Share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Satisfaction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Recommendation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100% coverage - must have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Invest in merchandising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Demand Boosters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Improve quality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Deprioritised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Monitor only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D46"/>
                </a:solidFill>
              </a:defRPr>
            </a:pPr>
            <a:r>
              <a:t>Slide 8: Scoring Framework Definitions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595B"/>
                </a:solidFill>
              </a:defRPr>
            </a:pPr>
            <a:r>
              <a:t>Framework combines revealed preference (orders) with stated preference (surveys)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828800"/>
                <a:gridCol w="301752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Sample Size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Source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What It Measures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Avg Sales per Dish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82,350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Snowflake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Actual purchase behaviour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% Zones in Top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197 zones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Looker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Demand consistency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Deliveroo Rating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10,713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Looker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Post-delivery satisfaction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Meal Satisfaction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1,363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Post-order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% Liked/Loved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Repeat Intent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1,363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Post-order survey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% would order again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Open-Text Requests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372 mentions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All surveys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Unmet demand signals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D46"/>
                </a:solidFill>
              </a:defRPr>
            </a:pPr>
            <a:r>
              <a:t>Slide 9: Quadrant Summary - 8 Core, 5 Pref, 2 Demand, 8 Depri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595B"/>
                </a:solidFill>
              </a:defRPr>
            </a:pPr>
            <a:r>
              <a:t>Core Drivers are 35% of dishes but 73% of sales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4124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14400"/>
                <a:gridCol w="1097280"/>
                <a:gridCol w="1371600"/>
                <a:gridCol w="3200400"/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Quadrant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Dishes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Sales %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Satisfaction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Example Dishes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Core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Pho, Indian Curry, Biryani, Katsu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Fajitas, Shepherd's Pie, Shawarma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Demand Boosters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Protein &amp; Veg, Pizza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Deprioritised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Pasta, Tacos, Burrito, Nachos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D46"/>
                </a:solidFill>
              </a:defRPr>
            </a:pPr>
            <a:r>
              <a:t>Slide 10: Dish Scoring Data Table (Top 15)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595B"/>
                </a:solidFill>
              </a:defRPr>
            </a:pPr>
            <a:r>
              <a:t>Full data in ANNA_SLIDES_DATA_PACK.md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79552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14400"/>
                <a:gridCol w="1097280"/>
                <a:gridCol w="1371600"/>
                <a:gridCol w="2286000"/>
              </a:tblGrid>
              <a:tr h="314325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Dish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Satisfaction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Quadrant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Core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South Asian/Indian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Core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Biryani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Core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Protein &amp; Veg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Demand Booster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Fried 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Core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Sushi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Core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Katsu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Core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Rice Bowl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Core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Noodles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Core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Grain Bowl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East Asian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Lasagne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Deprioritised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Shepherd's 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Pizza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Demand Booster</a:t>
                      </a:r>
                    </a:p>
                  </a:txBody>
                  <a:tcPr/>
                </a:tc>
              </a:tr>
              <a:tr h="31432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Shawarma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Preference Driver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D46"/>
                </a:solidFill>
              </a:defRPr>
            </a:pPr>
            <a:r>
              <a:t>Slide 13: Coverage Gaps &amp; Next Steps - Top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8595B"/>
                </a:solidFill>
              </a:defRPr>
            </a:pPr>
            <a:r>
              <a:t>Opportunity = Coverage Gap % × Avg Sales per Dish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82296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1371600"/>
                <a:gridCol w="3200400"/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Dish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Coverage Gap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Opportunity Rank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Next Steps</a:t>
                      </a:r>
                    </a:p>
                  </a:txBody>
                  <a:tcPr>
                    <a:solidFill>
                      <a:srgbClr val="00CCBC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South Asian/Indian Curry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#1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Recruit Dishoom, Kricket, Tiffin Tin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Biryani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#2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Same Indian partners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Pho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48%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#3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Expand Asian providers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Protein &amp; Veg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#4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Add to Farmer J, LEON, Bill's</a:t>
                      </a:r>
                    </a:p>
                  </a:txBody>
                  <a:tcPr/>
                </a:tc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Sushi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#5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Work with Itsu, Iro Sushi, Kokoro</a:t>
                      </a:r>
                    </a:p>
                  </a:txBody>
                  <a:tcPr/>
                </a:tc>
              </a:tr>
              <a:tr h="320045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Grain Bowl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76%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#7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58595B"/>
                          </a:solidFill>
                        </a:defRPr>
                      </a:pPr>
                      <a:r>
                        <a:t>Recruit Farmer J, healthy providers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46"/>
                </a:solidFill>
              </a:defRPr>
            </a:pPr>
            <a:r>
              <a:t>Key Insights for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58595B"/>
                </a:solidFill>
              </a:defRPr>
            </a:pPr>
            <a:r>
              <a:t>Concentration Risk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Pho alone = 28% of Core Driver sales (136 of 479)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6 of 8 Core Drivers are Asian dishes</a:t>
            </a:r>
          </a:p>
          <a:p>
            <a:pPr>
              <a:spcAft>
                <a:spcPts val="800"/>
              </a:spcAft>
              <a:defRPr>
                <a:solidFill>
                  <a:srgbClr val="58595B"/>
                </a:solidFill>
              </a:defRPr>
            </a:pPr>
          </a:p>
          <a:p>
            <a:pPr>
              <a:spcAft>
                <a:spcPts val="800"/>
              </a:spcAft>
              <a:defRPr b="1" sz="1600">
                <a:solidFill>
                  <a:srgbClr val="58595B"/>
                </a:solidFill>
              </a:defRPr>
            </a:pPr>
            <a:r>
              <a:t>The Familiarity Trap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Pasta gets most open-text requests (29) but only 78% satisfaction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Fajitas gets 0 requests but 96% satisfaction - hidden gem</a:t>
            </a:r>
          </a:p>
          <a:p>
            <a:pPr>
              <a:spcAft>
                <a:spcPts val="800"/>
              </a:spcAft>
              <a:defRPr>
                <a:solidFill>
                  <a:srgbClr val="58595B"/>
                </a:solidFill>
              </a:defRPr>
            </a:pPr>
          </a:p>
          <a:p>
            <a:pPr>
              <a:spcAft>
                <a:spcPts val="800"/>
              </a:spcAft>
              <a:defRPr b="1" sz="1600">
                <a:solidFill>
                  <a:srgbClr val="58595B"/>
                </a:solidFill>
              </a:defRPr>
            </a:pPr>
            <a:r>
              <a:t>The Mexican Paradox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6 Mexican dishes, only Fajitas works (96% satisfaction)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All others are Deprioritised - customers don't order Mexican for delivery</a:t>
            </a:r>
          </a:p>
          <a:p>
            <a:pPr>
              <a:spcAft>
                <a:spcPts val="800"/>
              </a:spcAft>
              <a:defRPr>
                <a:solidFill>
                  <a:srgbClr val="58595B"/>
                </a:solidFill>
              </a:defRPr>
            </a:pPr>
          </a:p>
          <a:p>
            <a:pPr>
              <a:spcAft>
                <a:spcPts val="800"/>
              </a:spcAft>
              <a:defRPr b="1" sz="1600">
                <a:solidFill>
                  <a:srgbClr val="58595B"/>
                </a:solidFill>
              </a:defRPr>
            </a:pPr>
            <a:r>
              <a:t>54% of Orders from Non-Families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Product works better for families (74% vs 68% satisfaction)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Opportunity: Better targeting to reach more families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2D46"/>
                </a:solidFill>
              </a:defRPr>
            </a:pPr>
            <a:r>
              <a:t>Data Sources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600">
                <a:solidFill>
                  <a:srgbClr val="58595B"/>
                </a:solidFill>
              </a:defRPr>
            </a:pPr>
            <a:r>
              <a:t>Behavioural Data (Revealed Preference)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Snowflake Orders: 82,350 orders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Deliveroo Ratings: 10,713 ratings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Zone Performance: 201 zones</a:t>
            </a:r>
          </a:p>
          <a:p>
            <a:pPr>
              <a:spcAft>
                <a:spcPts val="800"/>
              </a:spcAft>
              <a:defRPr>
                <a:solidFill>
                  <a:srgbClr val="58595B"/>
                </a:solidFill>
              </a:defRPr>
            </a:pPr>
          </a:p>
          <a:p>
            <a:pPr>
              <a:spcAft>
                <a:spcPts val="800"/>
              </a:spcAft>
              <a:defRPr b="1" sz="1600">
                <a:solidFill>
                  <a:srgbClr val="58595B"/>
                </a:solidFill>
              </a:defRPr>
            </a:pPr>
            <a:r>
              <a:t>Survey Data (Stated Preference)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Post-Order Survey: 1,599 responses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Dropoff Survey: 942 responses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OG Family Survey: 404 responses</a:t>
            </a:r>
          </a:p>
          <a:p>
            <a:pPr>
              <a:spcAft>
                <a:spcPts val="800"/>
              </a:spcAft>
              <a:defRPr>
                <a:solidFill>
                  <a:srgbClr val="58595B"/>
                </a:solidFill>
              </a:defRPr>
            </a:pPr>
          </a:p>
          <a:p>
            <a:pPr>
              <a:spcAft>
                <a:spcPts val="800"/>
              </a:spcAft>
              <a:defRPr b="1" sz="1600">
                <a:solidFill>
                  <a:srgbClr val="58595B"/>
                </a:solidFill>
              </a:defRPr>
            </a:pPr>
            <a:r>
              <a:t>Source Files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Zone MVP: docs/data/zone_mvp_status.json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Thresholds: DATA/3_ANALYSIS/mvp_threshold_discovery.json</a:t>
            </a:r>
          </a:p>
          <a:p>
            <a:pPr>
              <a:spcAft>
                <a:spcPts val="800"/>
              </a:spcAft>
              <a:defRPr sz="1400">
                <a:solidFill>
                  <a:srgbClr val="58595B"/>
                </a:solidFill>
              </a:defRPr>
            </a:pPr>
            <a:r>
              <a:t>• Full data pack: DELIVERABLES/reports/ANNA_SLIDES_DATA_PACK.md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