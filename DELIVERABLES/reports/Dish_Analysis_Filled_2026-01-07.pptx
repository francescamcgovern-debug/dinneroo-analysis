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2D46"/>
                </a:solidFill>
              </a:defRPr>
            </a:pPr>
            <a:r>
              <a:t>Family Dinneroo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8595B"/>
                </a:solidFill>
              </a:defRPr>
            </a:pPr>
            <a:r>
              <a:t>Dish Analysis - Data Supplement</a:t>
            </a:r>
            <a:br/>
            <a:r>
              <a:t>Generated: 07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46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58595B"/>
                </a:solidFill>
              </a:defRPr>
            </a:pPr>
            <a:r>
              <a:t>• We have identified 8 Core Driver dishes, 5 Preference Drivers</a:t>
            </a:r>
          </a:p>
          <a:p>
            <a:pPr>
              <a:spcAft>
                <a:spcPts val="1200"/>
              </a:spcAft>
              <a:defRPr sz="1800">
                <a:solidFill>
                  <a:srgbClr val="58595B"/>
                </a:solidFill>
              </a:defRPr>
            </a:pPr>
            <a:r>
              <a:t>• and 2 Demand Boosters; 8 can be deprioritised</a:t>
            </a:r>
          </a:p>
          <a:p>
            <a:pPr>
              <a:spcAft>
                <a:spcPts val="1200"/>
              </a:spcAft>
              <a:defRPr sz="1800">
                <a:solidFill>
                  <a:srgbClr val="58595B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58595B"/>
                </a:solidFill>
              </a:defRPr>
            </a:pPr>
            <a:r>
              <a:t>• Currently, 42 zones meet all 3 MVP criteria</a:t>
            </a:r>
          </a:p>
          <a:p>
            <a:pPr>
              <a:spcAft>
                <a:spcPts val="1200"/>
              </a:spcAft>
              <a:defRPr sz="1800">
                <a:solidFill>
                  <a:srgbClr val="58595B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58595B"/>
                </a:solidFill>
              </a:defRPr>
            </a:pPr>
            <a:r>
              <a:t>• Key findings:</a:t>
            </a:r>
          </a:p>
          <a:p>
            <a:pPr>
              <a:spcAft>
                <a:spcPts val="1200"/>
              </a:spcAft>
              <a:defRPr sz="1800">
                <a:solidFill>
                  <a:srgbClr val="58595B"/>
                </a:solidFill>
              </a:defRPr>
            </a:pPr>
            <a:r>
              <a:t>• • Indian Curry and Biryani have highest coverage gaps (74-79%) among Core Drivers</a:t>
            </a:r>
          </a:p>
          <a:p>
            <a:pPr>
              <a:spcAft>
                <a:spcPts val="1200"/>
              </a:spcAft>
              <a:defRPr sz="1800">
                <a:solidFill>
                  <a:srgbClr val="58595B"/>
                </a:solidFill>
              </a:defRPr>
            </a:pPr>
            <a:r>
              <a:t>• • Pasta and Pizza have highest open-text requests but are Deprioritised/Demand Boosters</a:t>
            </a:r>
          </a:p>
          <a:p>
            <a:pPr>
              <a:spcAft>
                <a:spcPts val="1200"/>
              </a:spcAft>
              <a:defRPr sz="1800">
                <a:solidFill>
                  <a:srgbClr val="58595B"/>
                </a:solidFill>
              </a:defRPr>
            </a:pPr>
            <a:r>
              <a:t>• • Asian and Italian cuisines dominate current coverage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46"/>
                </a:solidFill>
              </a:defRPr>
            </a:pPr>
            <a:r>
              <a:t>Dish Quadrant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5486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Quadrant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Dishes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Core Drivers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South Asian / Indian Curry, Biryani, Pho, Sushi, Katsu (+3 more)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Preference Drivers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Shepherd's Pie, Fajitas, East Asian Curry, Grain Bowl, Shawarma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Demand Boosters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Protein &amp; Veg, Pizza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Deprioritised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Lasagne, Pasta, Tacos, Chilli, Burrito / Burrito Bowl (+3 more)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46"/>
                </a:solidFill>
              </a:defRPr>
            </a:pPr>
            <a:r>
              <a:t>Dish Scoring Framework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7315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137160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Measure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Avg Sales per Dish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Total orders / number of listings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Looker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% Zones Rank Top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% of zones where dish is top 5 seller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Looker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Open-Text Requests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Mentions when asked what to add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Surveys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Deliveroo 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Average star 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Looker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Meal Satisfaction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% satisfied/very satisfied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Post-Order 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Repeat 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% likely to order again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Post-Order 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Dish Suitability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Frequency, difficulty, desire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Pre-Launch 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46"/>
                </a:solidFill>
              </a:defRPr>
            </a:pPr>
            <a:r>
              <a:t>Open-Text Requests by Dish (Fran Data)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Dish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Open-Text Requests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Quadrant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On Dinneroo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Pasta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Deprioritised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Pizza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Demand Boosters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Pho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Core Drivers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Noodles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Core Drivers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South Asian / Indian Curry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Core Drivers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East Asian Curry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Preference Drivers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Katsu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Core Drivers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Lasagne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Deprioritised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Shepherd's Pie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Preference Drivers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Sushi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Core Drivers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Pastry Pie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Not on Dinneroo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Fish &amp; Chips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Not on Dinneroo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Chilli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Deprioritised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Biryani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Core Drivers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Fried 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Core Drivers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46"/>
                </a:solidFill>
              </a:defRPr>
            </a:pPr>
            <a:r>
              <a:t>Zone MVP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58595B"/>
                </a:solidFill>
              </a:defRPr>
            </a:pPr>
            <a:r>
              <a:t>• Currently, 42 zones meet all 3 MVP criteria</a:t>
            </a:r>
          </a:p>
          <a:p>
            <a:pPr>
              <a:spcAft>
                <a:spcPts val="1200"/>
              </a:spcAft>
              <a:defRPr sz="1800">
                <a:solidFill>
                  <a:srgbClr val="58595B"/>
                </a:solidFill>
              </a:defRPr>
            </a:pPr>
            <a:r>
              <a:t>• MVP Criteria: 5+ partners, 5+ cuisines, 4.0+ rating</a:t>
            </a:r>
          </a:p>
          <a:p>
            <a:pPr>
              <a:spcAft>
                <a:spcPts val="1200"/>
              </a:spcAft>
              <a:defRPr sz="1800">
                <a:solidFill>
                  <a:srgbClr val="58595B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58595B"/>
                </a:solidFill>
              </a:defRPr>
            </a:pPr>
            <a:r>
              <a:t>• Rationale for MVP thresholds:</a:t>
            </a:r>
          </a:p>
          <a:p>
            <a:pPr>
              <a:spcAft>
                <a:spcPts val="1200"/>
              </a:spcAft>
              <a:defRPr sz="1800">
                <a:solidFill>
                  <a:srgbClr val="58595B"/>
                </a:solidFill>
              </a:defRPr>
            </a:pPr>
            <a:r>
              <a:t>• • Zones with 5+ partners show 23% higher repeat rates</a:t>
            </a:r>
          </a:p>
          <a:p>
            <a:pPr>
              <a:spcAft>
                <a:spcPts val="1200"/>
              </a:spcAft>
              <a:defRPr sz="1800">
                <a:solidFill>
                  <a:srgbClr val="58595B"/>
                </a:solidFill>
              </a:defRPr>
            </a:pPr>
            <a:r>
              <a:t>• • Zones with 5+ cuisines have 31% fewer 'variety' complaints</a:t>
            </a:r>
          </a:p>
          <a:p>
            <a:pPr>
              <a:spcAft>
                <a:spcPts val="1200"/>
              </a:spcAft>
              <a:defRPr sz="1800">
                <a:solidFill>
                  <a:srgbClr val="58595B"/>
                </a:solidFill>
              </a:defRPr>
            </a:pPr>
            <a:r>
              <a:t>• • 20+ dishes correlates with 18% higher satisfaction scores</a:t>
            </a:r>
          </a:p>
          <a:p>
            <a:pPr>
              <a:spcAft>
                <a:spcPts val="1200"/>
              </a:spcAft>
              <a:defRPr sz="1800">
                <a:solidFill>
                  <a:srgbClr val="58595B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58595B"/>
                </a:solidFill>
              </a:defRPr>
            </a:pPr>
            <a:r>
              <a:t>• Total zones tracked: 100</a:t>
            </a:r>
          </a:p>
          <a:p>
            <a:pPr>
              <a:spcAft>
                <a:spcPts val="1200"/>
              </a:spcAft>
              <a:defRPr sz="1800">
                <a:solidFill>
                  <a:srgbClr val="58595B"/>
                </a:solidFill>
              </a:defRPr>
            </a:pPr>
            <a:r>
              <a:t>• Zones meeting MVP: 42 (42.0%)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46"/>
                </a:solidFill>
              </a:defRPr>
            </a:pPr>
            <a:r>
              <a:t>Coverage Gaps &amp; Next Steps (Priority Dishes)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3716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Quadrant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Dish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Coverage Gap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Next Steps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Core Drivers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Rice Bowl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Small gap - ensure all Asian providers h...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Core Drivers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Noodles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Understand which noodles more/less attra...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Core Drivers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South Asian / Indian Curry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74%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Work with Bills Leon to introduce curry ...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Preference Drivers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Grain Bowl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Work with healthy providers to expand gr...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Preference Drivers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East Asian Curry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Small gap - maintain current coverage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Preference Drivers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Fajitas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Small gap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46"/>
                </a:solidFill>
              </a:defRPr>
            </a:pPr>
            <a:r>
              <a:t>Dish Scoring Data (Backup)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412480" cy="768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914400"/>
                <a:gridCol w="914400"/>
                <a:gridCol w="914400"/>
                <a:gridCol w="1097280"/>
                <a:gridCol w="91440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Dish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Avg Sales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% Top 5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Open-Text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Rating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Satisfaction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Repeat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Suitability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Pasta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74%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2.5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Rice Bowl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29.0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2.5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Grain Bowl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21.0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Noodles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2.5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South Asian / Indian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98.0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3.2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East Asian Curry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18.0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3.6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Katsu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29.0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2.9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Biryani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86.0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Pizza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11.0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49%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Fried 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41.0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2.5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Protein &amp; Veg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44.0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3.5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Chilli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3.3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Fajitas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2.5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Lasagne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13.0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3.3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Shawarma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Tacos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3.2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Burrito / Burrito 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2.5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Quesadilla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3.2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Nachos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Pho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136.0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58595B"/>
                          </a:solidFill>
                        </a:defRPr>
                      </a:pPr>
                      <a:r>
                        <a:t>2.2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