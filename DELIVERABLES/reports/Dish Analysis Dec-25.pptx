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6"/>
    <p:sldMasterId id="214748369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y="5143500" cx="9144000"/>
  <p:notesSz cx="6858000" cy="9144000"/>
  <p:embeddedFontLst>
    <p:embeddedFont>
      <p:font typeface="Roboto Black"/>
      <p:bold r:id="rId25"/>
      <p:boldItalic r:id="rId26"/>
    </p:embeddedFont>
    <p:embeddedFont>
      <p:font typeface="Roboto"/>
      <p:regular r:id="rId27"/>
      <p:bold r:id="rId28"/>
      <p:italic r:id="rId29"/>
      <p:boldItalic r:id="rId30"/>
    </p:embeddedFont>
    <p:embeddedFont>
      <p:font typeface="Roboto Medium"/>
      <p:regular r:id="rId31"/>
      <p:bold r:id="rId32"/>
      <p:italic r:id="rId33"/>
      <p:boldItalic r:id="rId34"/>
    </p:embeddedFont>
    <p:embeddedFont>
      <p:font typeface="Proxima Nova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Anna Lawrence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CC0AC44-3B3F-4032-9866-CB729F8D82DF}">
  <a:tblStyle styleId="{2CC0AC44-3B3F-4032-9866-CB729F8D82D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28FC008-3E05-4866-B52B-E69819C0F10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font" Target="fonts/RobotoBlack-boldItalic.fntdata"/><Relationship Id="rId25" Type="http://schemas.openxmlformats.org/officeDocument/2006/relationships/font" Target="fonts/RobotoBlack-bold.fnt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29" Type="http://schemas.openxmlformats.org/officeDocument/2006/relationships/font" Target="fonts/Roboto-italic.fntdata"/><Relationship Id="rId7" Type="http://schemas.openxmlformats.org/officeDocument/2006/relationships/slideMaster" Target="slideMasters/slideMaster2.xml"/><Relationship Id="rId8" Type="http://schemas.openxmlformats.org/officeDocument/2006/relationships/notesMaster" Target="notesMasters/notesMaster1.xml"/><Relationship Id="rId31" Type="http://schemas.openxmlformats.org/officeDocument/2006/relationships/font" Target="fonts/RobotoMedium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3.xml"/><Relationship Id="rId33" Type="http://schemas.openxmlformats.org/officeDocument/2006/relationships/font" Target="fonts/RobotoMedium-italic.fntdata"/><Relationship Id="rId10" Type="http://schemas.openxmlformats.org/officeDocument/2006/relationships/slide" Target="slides/slide2.xml"/><Relationship Id="rId32" Type="http://schemas.openxmlformats.org/officeDocument/2006/relationships/font" Target="fonts/RobotoMedium-bold.fntdata"/><Relationship Id="rId13" Type="http://schemas.openxmlformats.org/officeDocument/2006/relationships/slide" Target="slides/slide5.xml"/><Relationship Id="rId35" Type="http://schemas.openxmlformats.org/officeDocument/2006/relationships/font" Target="fonts/ProximaNova-regular.fntdata"/><Relationship Id="rId12" Type="http://schemas.openxmlformats.org/officeDocument/2006/relationships/slide" Target="slides/slide4.xml"/><Relationship Id="rId34" Type="http://schemas.openxmlformats.org/officeDocument/2006/relationships/font" Target="fonts/RobotoMedium-boldItalic.fntdata"/><Relationship Id="rId15" Type="http://schemas.openxmlformats.org/officeDocument/2006/relationships/slide" Target="slides/slide7.xml"/><Relationship Id="rId37" Type="http://schemas.openxmlformats.org/officeDocument/2006/relationships/font" Target="fonts/ProximaNova-italic.fntdata"/><Relationship Id="rId14" Type="http://schemas.openxmlformats.org/officeDocument/2006/relationships/slide" Target="slides/slide6.xml"/><Relationship Id="rId36" Type="http://schemas.openxmlformats.org/officeDocument/2006/relationships/font" Target="fonts/ProximaNova-bold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38" Type="http://schemas.openxmlformats.org/officeDocument/2006/relationships/font" Target="fonts/ProximaNova-boldItalic.fnt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1-06T10:29:52.853">
    <p:pos x="190" y="157"/>
    <p:text>@francesca.mcgovern@deliveroo.co.uk  please can you fill this in with the supporting evidence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1-06T10:30:46.398">
    <p:pos x="296" y="643"/>
    <p:text>@francesca.mcgovern@deliveroo.co.uk  can you think about what other metrics we want to add / change and what weighting we want to give to them
can you also fill in the bits highlighted yellow here?
I'll put some time for us to catch up
https://docs.google.com/spreadsheets/d/1e5ld4TJp5I7eDaTzYPXaDr9Be7Ws32Moao_G8UITKMU/edit?gid=1281756260#gid=1281756260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b49afe3407_0_1200:notes"/>
          <p:cNvSpPr/>
          <p:nvPr>
            <p:ph idx="2" type="sldImg"/>
          </p:nvPr>
        </p:nvSpPr>
        <p:spPr>
          <a:xfrm>
            <a:off x="381311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b49afe3407_0_1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49afe3407_0_1206:notes"/>
          <p:cNvSpPr/>
          <p:nvPr>
            <p:ph idx="2" type="sldImg"/>
          </p:nvPr>
        </p:nvSpPr>
        <p:spPr>
          <a:xfrm>
            <a:off x="38131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b49afe3407_0_1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b49afe3407_1_72:notes"/>
          <p:cNvSpPr/>
          <p:nvPr>
            <p:ph idx="2" type="sldImg"/>
          </p:nvPr>
        </p:nvSpPr>
        <p:spPr>
          <a:xfrm>
            <a:off x="38131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b49afe3407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b49afe3407_1_103:notes"/>
          <p:cNvSpPr/>
          <p:nvPr>
            <p:ph idx="2" type="sldImg"/>
          </p:nvPr>
        </p:nvSpPr>
        <p:spPr>
          <a:xfrm>
            <a:off x="38131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b49afe3407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b49afe3407_1_182:notes"/>
          <p:cNvSpPr/>
          <p:nvPr>
            <p:ph idx="2" type="sldImg"/>
          </p:nvPr>
        </p:nvSpPr>
        <p:spPr>
          <a:xfrm>
            <a:off x="38131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b49afe3407_1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b49afe3407_1_214:notes"/>
          <p:cNvSpPr/>
          <p:nvPr>
            <p:ph idx="2" type="sldImg"/>
          </p:nvPr>
        </p:nvSpPr>
        <p:spPr>
          <a:xfrm>
            <a:off x="38131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b49afe3407_1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b49afe3407_1_278:notes"/>
          <p:cNvSpPr/>
          <p:nvPr>
            <p:ph idx="2" type="sldImg"/>
          </p:nvPr>
        </p:nvSpPr>
        <p:spPr>
          <a:xfrm>
            <a:off x="38131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b49afe3407_1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b49afe3407_1_336:notes"/>
          <p:cNvSpPr/>
          <p:nvPr>
            <p:ph idx="2" type="sldImg"/>
          </p:nvPr>
        </p:nvSpPr>
        <p:spPr>
          <a:xfrm>
            <a:off x="38131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b49afe3407_1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b49afe3407_1_542:notes"/>
          <p:cNvSpPr/>
          <p:nvPr>
            <p:ph idx="2" type="sldImg"/>
          </p:nvPr>
        </p:nvSpPr>
        <p:spPr>
          <a:xfrm>
            <a:off x="38131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b49afe3407_1_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b4e0155539_1_12:notes"/>
          <p:cNvSpPr/>
          <p:nvPr>
            <p:ph idx="2" type="sldImg"/>
          </p:nvPr>
        </p:nvSpPr>
        <p:spPr>
          <a:xfrm>
            <a:off x="38131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b4e0155539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b49afe3407_1_316:notes"/>
          <p:cNvSpPr/>
          <p:nvPr>
            <p:ph idx="2" type="sldImg"/>
          </p:nvPr>
        </p:nvSpPr>
        <p:spPr>
          <a:xfrm>
            <a:off x="38131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b49afe3407_1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b49afe3407_1_294:notes"/>
          <p:cNvSpPr/>
          <p:nvPr>
            <p:ph idx="2" type="sldImg"/>
          </p:nvPr>
        </p:nvSpPr>
        <p:spPr>
          <a:xfrm>
            <a:off x="38131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b49afe3407_1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b49afe3407_1_534:notes"/>
          <p:cNvSpPr/>
          <p:nvPr>
            <p:ph idx="2" type="sldImg"/>
          </p:nvPr>
        </p:nvSpPr>
        <p:spPr>
          <a:xfrm>
            <a:off x="38131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b49afe3407_1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49afe3407_1_530:notes"/>
          <p:cNvSpPr/>
          <p:nvPr>
            <p:ph idx="2" type="sldImg"/>
          </p:nvPr>
        </p:nvSpPr>
        <p:spPr>
          <a:xfrm>
            <a:off x="38131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b49afe3407_1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49afe3407_1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b49afe3407_1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b49afe3407_1_492:notes"/>
          <p:cNvSpPr/>
          <p:nvPr>
            <p:ph idx="2" type="sldImg"/>
          </p:nvPr>
        </p:nvSpPr>
        <p:spPr>
          <a:xfrm>
            <a:off x="38131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b49afe3407_1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2">
  <p:cSld name="SECTION_HEADER_1_2">
    <p:bg>
      <p:bgPr>
        <a:solidFill>
          <a:schemeClr val="lt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ctrTitle"/>
          </p:nvPr>
        </p:nvSpPr>
        <p:spPr>
          <a:xfrm rot="-121">
            <a:off x="311560" y="360097"/>
            <a:ext cx="8520900" cy="42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5"/>
          <p:cNvPicPr preferRelativeResize="0"/>
          <p:nvPr/>
        </p:nvPicPr>
        <p:blipFill rotWithShape="1">
          <a:blip r:embed="rId2">
            <a:alphaModFix/>
          </a:blip>
          <a:srcRect b="14902" l="13736" r="13736" t="14902"/>
          <a:stretch/>
        </p:blipFill>
        <p:spPr>
          <a:xfrm>
            <a:off x="7892150" y="3925650"/>
            <a:ext cx="892750" cy="864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" name="Google Shape;58;p15"/>
          <p:cNvGrpSpPr/>
          <p:nvPr/>
        </p:nvGrpSpPr>
        <p:grpSpPr>
          <a:xfrm>
            <a:off x="3155975" y="0"/>
            <a:ext cx="7020000" cy="5143500"/>
            <a:chOff x="3155975" y="0"/>
            <a:chExt cx="7020000" cy="5143500"/>
          </a:xfrm>
        </p:grpSpPr>
        <p:sp>
          <p:nvSpPr>
            <p:cNvPr id="59" name="Google Shape;59;p15"/>
            <p:cNvSpPr/>
            <p:nvPr/>
          </p:nvSpPr>
          <p:spPr>
            <a:xfrm>
              <a:off x="3155975" y="1866900"/>
              <a:ext cx="7020000" cy="3276600"/>
            </a:xfrm>
            <a:prstGeom prst="parallelogram">
              <a:avLst>
                <a:gd fmla="val 12383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2475" lIns="92475" spcFirstLastPara="1" rIns="92475" wrap="square" tIns="92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5"/>
            <p:cNvSpPr/>
            <p:nvPr/>
          </p:nvSpPr>
          <p:spPr>
            <a:xfrm flipH="1">
              <a:off x="5694800" y="0"/>
              <a:ext cx="4062000" cy="1910400"/>
            </a:xfrm>
            <a:prstGeom prst="parallelogram">
              <a:avLst>
                <a:gd fmla="val 82278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2475" lIns="92475" spcFirstLastPara="1" rIns="92475" wrap="square" tIns="92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</p:grpSp>
      <p:sp>
        <p:nvSpPr>
          <p:cNvPr id="61" name="Google Shape;61;p15"/>
          <p:cNvSpPr txBox="1"/>
          <p:nvPr>
            <p:ph type="ctrTitle"/>
          </p:nvPr>
        </p:nvSpPr>
        <p:spPr>
          <a:xfrm rot="-246">
            <a:off x="553874" y="1681099"/>
            <a:ext cx="8378700" cy="14985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900"/>
              <a:buFont typeface="Roboto Black"/>
              <a:buNone/>
              <a:defRPr b="0" sz="490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62" name="Google Shape;62;p15"/>
          <p:cNvSpPr/>
          <p:nvPr/>
        </p:nvSpPr>
        <p:spPr>
          <a:xfrm>
            <a:off x="9144000" y="793950"/>
            <a:ext cx="1247700" cy="2448000"/>
          </a:xfrm>
          <a:prstGeom prst="rect">
            <a:avLst/>
          </a:prstGeom>
          <a:solidFill>
            <a:srgbClr val="F8FBFD"/>
          </a:solidFill>
          <a:ln>
            <a:noFill/>
          </a:ln>
        </p:spPr>
        <p:txBody>
          <a:bodyPr anchorCtr="0" anchor="ctr" bIns="92475" lIns="92475" spcFirstLastPara="1" rIns="92475" wrap="square" tIns="92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4">
  <p:cSld name="TITLE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6"/>
          <p:cNvPicPr preferRelativeResize="0"/>
          <p:nvPr/>
        </p:nvPicPr>
        <p:blipFill rotWithShape="1">
          <a:blip r:embed="rId2">
            <a:alphaModFix/>
          </a:blip>
          <a:srcRect b="0" l="5294" r="0" t="24562"/>
          <a:stretch/>
        </p:blipFill>
        <p:spPr>
          <a:xfrm rot="10800000">
            <a:off x="1869860" y="1045225"/>
            <a:ext cx="7275315" cy="409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6"/>
          <p:cNvPicPr preferRelativeResize="0"/>
          <p:nvPr/>
        </p:nvPicPr>
        <p:blipFill rotWithShape="1">
          <a:blip r:embed="rId3">
            <a:alphaModFix/>
          </a:blip>
          <a:srcRect b="14902" l="13736" r="13736" t="14902"/>
          <a:stretch/>
        </p:blipFill>
        <p:spPr>
          <a:xfrm>
            <a:off x="8016992" y="255197"/>
            <a:ext cx="892750" cy="8640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6"/>
          <p:cNvSpPr txBox="1"/>
          <p:nvPr>
            <p:ph idx="1" type="subTitle"/>
          </p:nvPr>
        </p:nvSpPr>
        <p:spPr>
          <a:xfrm>
            <a:off x="540007" y="2973372"/>
            <a:ext cx="1907100" cy="400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54625" lIns="92475" spcFirstLastPara="1" rIns="92475" wrap="square" tIns="546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6"/>
          <p:cNvSpPr txBox="1"/>
          <p:nvPr>
            <p:ph type="ctrTitle"/>
          </p:nvPr>
        </p:nvSpPr>
        <p:spPr>
          <a:xfrm rot="195">
            <a:off x="417032" y="444241"/>
            <a:ext cx="5300400" cy="1499400"/>
          </a:xfrm>
          <a:prstGeom prst="rect">
            <a:avLst/>
          </a:prstGeom>
        </p:spPr>
        <p:txBody>
          <a:bodyPr anchorCtr="0" anchor="t" bIns="0" lIns="92475" spcFirstLastPara="1" rIns="92475" wrap="square" tIns="924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900"/>
              <a:buFont typeface="Roboto Black"/>
              <a:buNone/>
              <a:defRPr b="0" sz="490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68" name="Google Shape;68;p16"/>
          <p:cNvSpPr txBox="1"/>
          <p:nvPr>
            <p:ph idx="2" type="subTitle"/>
          </p:nvPr>
        </p:nvSpPr>
        <p:spPr>
          <a:xfrm rot="-395">
            <a:off x="417032" y="2032048"/>
            <a:ext cx="5218200" cy="861600"/>
          </a:xfrm>
          <a:prstGeom prst="rect">
            <a:avLst/>
          </a:prstGeom>
        </p:spPr>
        <p:txBody>
          <a:bodyPr anchorCtr="0" anchor="t" bIns="92475" lIns="91050" spcFirstLastPara="1" rIns="92475" wrap="square" tIns="546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1">
  <p:cSld name="SECTION_HEADER_1">
    <p:bg>
      <p:bgPr>
        <a:solidFill>
          <a:schemeClr val="accen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ctrTitle"/>
          </p:nvPr>
        </p:nvSpPr>
        <p:spPr>
          <a:xfrm rot="-121">
            <a:off x="311560" y="360097"/>
            <a:ext cx="8520900" cy="42705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2">
  <p:cSld name="SECTION_HEADER_1_2">
    <p:bg>
      <p:bgPr>
        <a:solidFill>
          <a:schemeClr val="lt2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ctrTitle"/>
          </p:nvPr>
        </p:nvSpPr>
        <p:spPr>
          <a:xfrm rot="-121">
            <a:off x="311560" y="360097"/>
            <a:ext cx="8520900" cy="42705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3">
  <p:cSld name="SECTION_HEADER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ctrTitle"/>
          </p:nvPr>
        </p:nvSpPr>
        <p:spPr>
          <a:xfrm>
            <a:off x="311706" y="360242"/>
            <a:ext cx="8520600" cy="42705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490250" y="731725"/>
            <a:ext cx="8520600" cy="6771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490250" y="1505650"/>
            <a:ext cx="4269300" cy="31539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78" name="Google Shape;78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96552" y="149650"/>
            <a:ext cx="172134" cy="192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677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311700" y="531725"/>
            <a:ext cx="8520600" cy="5727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82" name="Google Shape;82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96552" y="149650"/>
            <a:ext cx="172134" cy="192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ubtitle">
  <p:cSld name="TITLE_ONLY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85" name="Google Shape;85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96552" y="149650"/>
            <a:ext cx="172134" cy="19263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2"/>
          <p:cNvSpPr txBox="1"/>
          <p:nvPr>
            <p:ph type="title"/>
          </p:nvPr>
        </p:nvSpPr>
        <p:spPr>
          <a:xfrm>
            <a:off x="311700" y="531725"/>
            <a:ext cx="8520600" cy="5727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" type="subTitle"/>
          </p:nvPr>
        </p:nvSpPr>
        <p:spPr>
          <a:xfrm>
            <a:off x="906750" y="1104425"/>
            <a:ext cx="7330500" cy="4668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1600"/>
              </a:spcBef>
              <a:spcAft>
                <a:spcPts val="160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lant 1">
  <p:cSld name="ONE_COLUMN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0" name="Google Shape;90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96552" y="149650"/>
            <a:ext cx="172134" cy="192639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3"/>
          <p:cNvSpPr/>
          <p:nvPr/>
        </p:nvSpPr>
        <p:spPr>
          <a:xfrm>
            <a:off x="0" y="4257875"/>
            <a:ext cx="8472600" cy="8853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2475" lIns="92475" spcFirstLastPara="1" rIns="92475" wrap="square" tIns="92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3"/>
          <p:cNvSpPr txBox="1"/>
          <p:nvPr>
            <p:ph type="title"/>
          </p:nvPr>
        </p:nvSpPr>
        <p:spPr>
          <a:xfrm>
            <a:off x="311700" y="531725"/>
            <a:ext cx="8520600" cy="5727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" type="subTitle"/>
          </p:nvPr>
        </p:nvSpPr>
        <p:spPr>
          <a:xfrm>
            <a:off x="906750" y="1104425"/>
            <a:ext cx="7330500" cy="4668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1600"/>
              </a:spcBef>
              <a:spcAft>
                <a:spcPts val="160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lant 2">
  <p:cSld name="MAIN_POIN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96552" y="149650"/>
            <a:ext cx="172134" cy="19263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4"/>
          <p:cNvSpPr txBox="1"/>
          <p:nvPr>
            <p:ph type="title"/>
          </p:nvPr>
        </p:nvSpPr>
        <p:spPr>
          <a:xfrm>
            <a:off x="311700" y="531725"/>
            <a:ext cx="8520600" cy="5727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" type="subTitle"/>
          </p:nvPr>
        </p:nvSpPr>
        <p:spPr>
          <a:xfrm>
            <a:off x="906750" y="1104425"/>
            <a:ext cx="7330500" cy="4668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1600"/>
              </a:spcBef>
              <a:spcAft>
                <a:spcPts val="160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8" name="Google Shape;98;p24"/>
          <p:cNvPicPr preferRelativeResize="0"/>
          <p:nvPr/>
        </p:nvPicPr>
        <p:blipFill rotWithShape="1">
          <a:blip r:embed="rId3">
            <a:alphaModFix/>
          </a:blip>
          <a:srcRect b="11262" l="0" r="0" t="54305"/>
          <a:stretch/>
        </p:blipFill>
        <p:spPr>
          <a:xfrm>
            <a:off x="0" y="3372476"/>
            <a:ext cx="9144003" cy="1771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309">
          <p15:clr>
            <a:srgbClr val="FA7B17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1 (photo)">
  <p:cSld name="CUSTOM_4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/>
          <p:cNvSpPr txBox="1"/>
          <p:nvPr>
            <p:ph type="ctrTitle"/>
          </p:nvPr>
        </p:nvSpPr>
        <p:spPr>
          <a:xfrm rot="-190">
            <a:off x="390674" y="1811860"/>
            <a:ext cx="5440800" cy="769200"/>
          </a:xfrm>
          <a:prstGeom prst="rect">
            <a:avLst/>
          </a:prstGeom>
        </p:spPr>
        <p:txBody>
          <a:bodyPr anchorCtr="0" anchor="t" bIns="0" lIns="92475" spcFirstLastPara="1" rIns="92475" wrap="square" tIns="924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900"/>
              <a:buFont typeface="Roboto Black"/>
              <a:buNone/>
              <a:defRPr b="0" sz="490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101" name="Google Shape;101;p25"/>
          <p:cNvSpPr txBox="1"/>
          <p:nvPr>
            <p:ph idx="1" type="subTitle"/>
          </p:nvPr>
        </p:nvSpPr>
        <p:spPr>
          <a:xfrm rot="-198">
            <a:off x="390674" y="2575952"/>
            <a:ext cx="5218200" cy="1021800"/>
          </a:xfrm>
          <a:prstGeom prst="rect">
            <a:avLst/>
          </a:prstGeom>
        </p:spPr>
        <p:txBody>
          <a:bodyPr anchorCtr="0" anchor="t" bIns="92475" lIns="92475" spcFirstLastPara="1" rIns="92475" wrap="square" tIns="546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2" name="Google Shape;102;p25"/>
          <p:cNvPicPr preferRelativeResize="0"/>
          <p:nvPr/>
        </p:nvPicPr>
        <p:blipFill rotWithShape="1">
          <a:blip r:embed="rId2">
            <a:alphaModFix/>
          </a:blip>
          <a:srcRect b="1606" l="0" r="0" t="1606"/>
          <a:stretch/>
        </p:blipFill>
        <p:spPr>
          <a:xfrm>
            <a:off x="504495" y="3702163"/>
            <a:ext cx="1230255" cy="11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5"/>
          <p:cNvSpPr txBox="1"/>
          <p:nvPr>
            <p:ph idx="2" type="subTitle"/>
          </p:nvPr>
        </p:nvSpPr>
        <p:spPr>
          <a:xfrm>
            <a:off x="504499" y="544247"/>
            <a:ext cx="1907100" cy="400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54625" lIns="92475" spcFirstLastPara="1" rIns="92475" wrap="square" tIns="546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5">
  <p:cSld name="CUSTOM_3">
    <p:bg>
      <p:bgPr>
        <a:solidFill>
          <a:schemeClr val="lt2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6"/>
          <p:cNvPicPr preferRelativeResize="0"/>
          <p:nvPr/>
        </p:nvPicPr>
        <p:blipFill rotWithShape="1">
          <a:blip r:embed="rId2">
            <a:alphaModFix/>
          </a:blip>
          <a:srcRect b="25479" l="24807" r="31276" t="11591"/>
          <a:stretch/>
        </p:blipFill>
        <p:spPr>
          <a:xfrm flipH="1" rot="5400000">
            <a:off x="4512873" y="498873"/>
            <a:ext cx="5136527" cy="4140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6"/>
          <p:cNvPicPr preferRelativeResize="0"/>
          <p:nvPr/>
        </p:nvPicPr>
        <p:blipFill rotWithShape="1">
          <a:blip r:embed="rId3">
            <a:alphaModFix/>
          </a:blip>
          <a:srcRect b="1606" l="0" r="0" t="1606"/>
          <a:stretch/>
        </p:blipFill>
        <p:spPr>
          <a:xfrm>
            <a:off x="7372951" y="1474039"/>
            <a:ext cx="1412175" cy="136677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6"/>
          <p:cNvSpPr txBox="1"/>
          <p:nvPr>
            <p:ph type="ctrTitle"/>
          </p:nvPr>
        </p:nvSpPr>
        <p:spPr>
          <a:xfrm rot="195">
            <a:off x="462532" y="1128341"/>
            <a:ext cx="5300400" cy="1499400"/>
          </a:xfrm>
          <a:prstGeom prst="rect">
            <a:avLst/>
          </a:prstGeom>
        </p:spPr>
        <p:txBody>
          <a:bodyPr anchorCtr="0" anchor="t" bIns="0" lIns="92475" spcFirstLastPara="1" rIns="92475" wrap="square" tIns="924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Roboto Black"/>
              <a:buNone/>
              <a:defRPr b="0" sz="49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8" name="Google Shape;108;p26"/>
          <p:cNvSpPr txBox="1"/>
          <p:nvPr>
            <p:ph idx="1" type="subTitle"/>
          </p:nvPr>
        </p:nvSpPr>
        <p:spPr>
          <a:xfrm rot="-670">
            <a:off x="462524" y="2737111"/>
            <a:ext cx="4620300" cy="861600"/>
          </a:xfrm>
          <a:prstGeom prst="rect">
            <a:avLst/>
          </a:prstGeom>
        </p:spPr>
        <p:txBody>
          <a:bodyPr anchorCtr="0" anchor="t" bIns="92475" lIns="91050" spcFirstLastPara="1" rIns="924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26"/>
          <p:cNvSpPr txBox="1"/>
          <p:nvPr>
            <p:ph idx="2" type="subTitle"/>
          </p:nvPr>
        </p:nvSpPr>
        <p:spPr>
          <a:xfrm>
            <a:off x="557307" y="3827747"/>
            <a:ext cx="1907100" cy="400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54625" lIns="92475" spcFirstLastPara="1" rIns="92475" wrap="square" tIns="546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– 2">
  <p:cSld name="CUSTOM_5">
    <p:bg>
      <p:bgPr>
        <a:solidFill>
          <a:schemeClr val="lt2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7"/>
          <p:cNvPicPr preferRelativeResize="0"/>
          <p:nvPr/>
        </p:nvPicPr>
        <p:blipFill rotWithShape="1">
          <a:blip r:embed="rId2">
            <a:alphaModFix/>
          </a:blip>
          <a:srcRect b="0" l="16792" r="17915" t="0"/>
          <a:stretch/>
        </p:blipFill>
        <p:spPr>
          <a:xfrm rot="5400000">
            <a:off x="4371824" y="346076"/>
            <a:ext cx="5140475" cy="442842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7"/>
          <p:cNvSpPr txBox="1"/>
          <p:nvPr>
            <p:ph type="title"/>
          </p:nvPr>
        </p:nvSpPr>
        <p:spPr>
          <a:xfrm>
            <a:off x="524825" y="1017800"/>
            <a:ext cx="4203000" cy="5727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 Black"/>
              <a:buNone/>
              <a:defRPr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 Black"/>
              <a:buNone/>
              <a:defRPr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 Black"/>
              <a:buNone/>
              <a:defRPr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 Black"/>
              <a:buNone/>
              <a:defRPr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 Black"/>
              <a:buNone/>
              <a:defRPr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 Black"/>
              <a:buNone/>
              <a:defRPr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 Black"/>
              <a:buNone/>
              <a:defRPr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 Black"/>
              <a:buNone/>
              <a:defRPr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pic>
        <p:nvPicPr>
          <p:cNvPr id="113" name="Google Shape;11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6552" y="149650"/>
            <a:ext cx="172134" cy="19263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7"/>
          <p:cNvSpPr txBox="1"/>
          <p:nvPr>
            <p:ph idx="1" type="subTitle"/>
          </p:nvPr>
        </p:nvSpPr>
        <p:spPr>
          <a:xfrm>
            <a:off x="524825" y="1685875"/>
            <a:ext cx="4203000" cy="27783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2">
  <p:cSld name="CUSTOM_3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 txBox="1"/>
          <p:nvPr>
            <p:ph type="ctrTitle"/>
          </p:nvPr>
        </p:nvSpPr>
        <p:spPr>
          <a:xfrm rot="195">
            <a:off x="403007" y="1128341"/>
            <a:ext cx="5300400" cy="1499400"/>
          </a:xfrm>
          <a:prstGeom prst="rect">
            <a:avLst/>
          </a:prstGeom>
        </p:spPr>
        <p:txBody>
          <a:bodyPr anchorCtr="0" anchor="t" bIns="0" lIns="92475" spcFirstLastPara="1" rIns="92475" wrap="square" tIns="924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900"/>
              <a:buFont typeface="Roboto Black"/>
              <a:buNone/>
              <a:defRPr b="0" sz="490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117" name="Google Shape;117;p28"/>
          <p:cNvSpPr txBox="1"/>
          <p:nvPr>
            <p:ph idx="1" type="subTitle"/>
          </p:nvPr>
        </p:nvSpPr>
        <p:spPr>
          <a:xfrm rot="-628">
            <a:off x="403007" y="2731330"/>
            <a:ext cx="4924200" cy="861600"/>
          </a:xfrm>
          <a:prstGeom prst="rect">
            <a:avLst/>
          </a:prstGeom>
        </p:spPr>
        <p:txBody>
          <a:bodyPr anchorCtr="0" anchor="t" bIns="92475" lIns="91050" spcFirstLastPara="1" rIns="92475" wrap="square" tIns="546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8"/>
          <p:cNvSpPr/>
          <p:nvPr/>
        </p:nvSpPr>
        <p:spPr>
          <a:xfrm>
            <a:off x="6495175" y="-23025"/>
            <a:ext cx="2680075" cy="5183625"/>
          </a:xfrm>
          <a:custGeom>
            <a:rect b="b" l="l" r="r" t="t"/>
            <a:pathLst>
              <a:path extrusionOk="0" h="207345" w="107203">
                <a:moveTo>
                  <a:pt x="106561" y="207345"/>
                </a:moveTo>
                <a:lnTo>
                  <a:pt x="107203" y="0"/>
                </a:lnTo>
                <a:lnTo>
                  <a:pt x="21826" y="394"/>
                </a:lnTo>
                <a:lnTo>
                  <a:pt x="0" y="2072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119" name="Google Shape;119;p28"/>
          <p:cNvPicPr preferRelativeResize="0"/>
          <p:nvPr/>
        </p:nvPicPr>
        <p:blipFill rotWithShape="1">
          <a:blip r:embed="rId2">
            <a:alphaModFix/>
          </a:blip>
          <a:srcRect b="1606" l="0" r="0" t="1606"/>
          <a:stretch/>
        </p:blipFill>
        <p:spPr>
          <a:xfrm>
            <a:off x="7545025" y="3593376"/>
            <a:ext cx="1361700" cy="131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8"/>
          <p:cNvSpPr txBox="1"/>
          <p:nvPr>
            <p:ph idx="2" type="subTitle"/>
          </p:nvPr>
        </p:nvSpPr>
        <p:spPr>
          <a:xfrm>
            <a:off x="557307" y="3827747"/>
            <a:ext cx="1907100" cy="400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54625" lIns="92475" spcFirstLastPara="1" rIns="92475" wrap="square" tIns="546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3">
  <p:cSld name="CUSTOM_3_1_1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9"/>
          <p:cNvSpPr/>
          <p:nvPr/>
        </p:nvSpPr>
        <p:spPr>
          <a:xfrm>
            <a:off x="6495175" y="-23025"/>
            <a:ext cx="2680075" cy="5183625"/>
          </a:xfrm>
          <a:custGeom>
            <a:rect b="b" l="l" r="r" t="t"/>
            <a:pathLst>
              <a:path extrusionOk="0" h="207345" w="107203">
                <a:moveTo>
                  <a:pt x="106561" y="207345"/>
                </a:moveTo>
                <a:lnTo>
                  <a:pt x="107203" y="0"/>
                </a:lnTo>
                <a:lnTo>
                  <a:pt x="21826" y="394"/>
                </a:lnTo>
                <a:lnTo>
                  <a:pt x="0" y="2072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123" name="Google Shape;123;p29"/>
          <p:cNvPicPr preferRelativeResize="0"/>
          <p:nvPr/>
        </p:nvPicPr>
        <p:blipFill rotWithShape="1">
          <a:blip r:embed="rId2">
            <a:alphaModFix/>
          </a:blip>
          <a:srcRect b="1606" l="0" r="0" t="1606"/>
          <a:stretch/>
        </p:blipFill>
        <p:spPr>
          <a:xfrm>
            <a:off x="7545025" y="3593376"/>
            <a:ext cx="1361700" cy="131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9"/>
          <p:cNvSpPr txBox="1"/>
          <p:nvPr>
            <p:ph type="ctrTitle"/>
          </p:nvPr>
        </p:nvSpPr>
        <p:spPr>
          <a:xfrm rot="195">
            <a:off x="403007" y="1128341"/>
            <a:ext cx="5300400" cy="1499400"/>
          </a:xfrm>
          <a:prstGeom prst="rect">
            <a:avLst/>
          </a:prstGeom>
        </p:spPr>
        <p:txBody>
          <a:bodyPr anchorCtr="0" anchor="t" bIns="0" lIns="92475" spcFirstLastPara="1" rIns="92475" wrap="square" tIns="924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Roboto Black"/>
              <a:buNone/>
              <a:defRPr b="0" sz="49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29"/>
          <p:cNvSpPr txBox="1"/>
          <p:nvPr>
            <p:ph idx="1" type="subTitle"/>
          </p:nvPr>
        </p:nvSpPr>
        <p:spPr>
          <a:xfrm rot="-628">
            <a:off x="403007" y="2731330"/>
            <a:ext cx="4924200" cy="861600"/>
          </a:xfrm>
          <a:prstGeom prst="rect">
            <a:avLst/>
          </a:prstGeom>
        </p:spPr>
        <p:txBody>
          <a:bodyPr anchorCtr="0" anchor="t" bIns="92475" lIns="91050" spcFirstLastPara="1" rIns="92475" wrap="square" tIns="546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29"/>
          <p:cNvSpPr txBox="1"/>
          <p:nvPr>
            <p:ph idx="2" type="subTitle"/>
          </p:nvPr>
        </p:nvSpPr>
        <p:spPr>
          <a:xfrm>
            <a:off x="557307" y="3827747"/>
            <a:ext cx="1907100" cy="400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54625" lIns="92475" spcFirstLastPara="1" rIns="92475" wrap="square" tIns="546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 image teal (left)">
  <p:cSld name="SECTION_TITLE_AND_DESCRIPTION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0"/>
          <p:cNvSpPr/>
          <p:nvPr/>
        </p:nvSpPr>
        <p:spPr>
          <a:xfrm>
            <a:off x="-14775" y="-15700"/>
            <a:ext cx="3957475" cy="5172075"/>
          </a:xfrm>
          <a:custGeom>
            <a:rect b="b" l="l" r="r" t="t"/>
            <a:pathLst>
              <a:path extrusionOk="0" h="206883" w="158299">
                <a:moveTo>
                  <a:pt x="0" y="0"/>
                </a:moveTo>
                <a:lnTo>
                  <a:pt x="0" y="206883"/>
                </a:lnTo>
                <a:lnTo>
                  <a:pt x="136398" y="206883"/>
                </a:lnTo>
                <a:lnTo>
                  <a:pt x="158299" y="242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129" name="Google Shape;12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30"/>
          <p:cNvSpPr/>
          <p:nvPr>
            <p:ph idx="2" type="pic"/>
          </p:nvPr>
        </p:nvSpPr>
        <p:spPr>
          <a:xfrm>
            <a:off x="41650" y="1418950"/>
            <a:ext cx="2631600" cy="2483100"/>
          </a:xfrm>
          <a:prstGeom prst="rect">
            <a:avLst/>
          </a:prstGeom>
          <a:noFill/>
          <a:ln>
            <a:noFill/>
          </a:ln>
        </p:spPr>
      </p:sp>
      <p:pic>
        <p:nvPicPr>
          <p:cNvPr id="131" name="Google Shape;13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96552" y="149650"/>
            <a:ext cx="172134" cy="19263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0"/>
          <p:cNvSpPr txBox="1"/>
          <p:nvPr>
            <p:ph type="title"/>
          </p:nvPr>
        </p:nvSpPr>
        <p:spPr>
          <a:xfrm>
            <a:off x="4272675" y="743325"/>
            <a:ext cx="4389900" cy="40227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 image neutral (left)">
  <p:cSld name="SECTION_TITLE_AND_DESCRIPTION_1_2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1"/>
          <p:cNvSpPr/>
          <p:nvPr/>
        </p:nvSpPr>
        <p:spPr>
          <a:xfrm>
            <a:off x="-14775" y="-15700"/>
            <a:ext cx="3957475" cy="5172075"/>
          </a:xfrm>
          <a:custGeom>
            <a:rect b="b" l="l" r="r" t="t"/>
            <a:pathLst>
              <a:path extrusionOk="0" h="206883" w="158299">
                <a:moveTo>
                  <a:pt x="0" y="0"/>
                </a:moveTo>
                <a:lnTo>
                  <a:pt x="0" y="206883"/>
                </a:lnTo>
                <a:lnTo>
                  <a:pt x="136398" y="206883"/>
                </a:lnTo>
                <a:lnTo>
                  <a:pt x="158299" y="242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135" name="Google Shape;13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6" name="Google Shape;136;p31"/>
          <p:cNvSpPr/>
          <p:nvPr>
            <p:ph idx="2" type="pic"/>
          </p:nvPr>
        </p:nvSpPr>
        <p:spPr>
          <a:xfrm>
            <a:off x="41650" y="1418950"/>
            <a:ext cx="2631600" cy="2483100"/>
          </a:xfrm>
          <a:prstGeom prst="rect">
            <a:avLst/>
          </a:prstGeom>
          <a:noFill/>
          <a:ln>
            <a:noFill/>
          </a:ln>
        </p:spPr>
      </p:sp>
      <p:pic>
        <p:nvPicPr>
          <p:cNvPr id="137" name="Google Shape;137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96552" y="149650"/>
            <a:ext cx="172134" cy="192639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1"/>
          <p:cNvSpPr txBox="1"/>
          <p:nvPr>
            <p:ph type="title"/>
          </p:nvPr>
        </p:nvSpPr>
        <p:spPr>
          <a:xfrm>
            <a:off x="4272675" y="743325"/>
            <a:ext cx="4389900" cy="40227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 image teal (right)">
  <p:cSld name="SECTION_TITLE_AND_DESCRIPTION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2"/>
          <p:cNvSpPr/>
          <p:nvPr/>
        </p:nvSpPr>
        <p:spPr>
          <a:xfrm flipH="1">
            <a:off x="5186525" y="-15700"/>
            <a:ext cx="3957475" cy="5172075"/>
          </a:xfrm>
          <a:custGeom>
            <a:rect b="b" l="l" r="r" t="t"/>
            <a:pathLst>
              <a:path extrusionOk="0" h="206883" w="158299">
                <a:moveTo>
                  <a:pt x="0" y="0"/>
                </a:moveTo>
                <a:lnTo>
                  <a:pt x="0" y="206883"/>
                </a:lnTo>
                <a:lnTo>
                  <a:pt x="136398" y="206883"/>
                </a:lnTo>
                <a:lnTo>
                  <a:pt x="158299" y="242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141" name="Google Shape;141;p32"/>
          <p:cNvSpPr txBox="1"/>
          <p:nvPr>
            <p:ph type="title"/>
          </p:nvPr>
        </p:nvSpPr>
        <p:spPr>
          <a:xfrm>
            <a:off x="490250" y="743325"/>
            <a:ext cx="4389900" cy="40227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2" name="Google Shape;14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3" name="Google Shape;143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96552" y="149650"/>
            <a:ext cx="172134" cy="19263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32"/>
          <p:cNvSpPr/>
          <p:nvPr>
            <p:ph idx="2" type="pic"/>
          </p:nvPr>
        </p:nvSpPr>
        <p:spPr>
          <a:xfrm>
            <a:off x="6195975" y="1418950"/>
            <a:ext cx="2631600" cy="2483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 image neutral right)">
  <p:cSld name="SECTION_TITLE_AND_DESCRIPTION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3"/>
          <p:cNvSpPr/>
          <p:nvPr/>
        </p:nvSpPr>
        <p:spPr>
          <a:xfrm flipH="1">
            <a:off x="5186525" y="-15700"/>
            <a:ext cx="3957475" cy="5172075"/>
          </a:xfrm>
          <a:custGeom>
            <a:rect b="b" l="l" r="r" t="t"/>
            <a:pathLst>
              <a:path extrusionOk="0" h="206883" w="158299">
                <a:moveTo>
                  <a:pt x="0" y="0"/>
                </a:moveTo>
                <a:lnTo>
                  <a:pt x="0" y="206883"/>
                </a:lnTo>
                <a:lnTo>
                  <a:pt x="136398" y="206883"/>
                </a:lnTo>
                <a:lnTo>
                  <a:pt x="158299" y="242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147" name="Google Shape;147;p33"/>
          <p:cNvSpPr txBox="1"/>
          <p:nvPr>
            <p:ph type="title"/>
          </p:nvPr>
        </p:nvSpPr>
        <p:spPr>
          <a:xfrm>
            <a:off x="490250" y="743325"/>
            <a:ext cx="4389900" cy="40227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8" name="Google Shape;14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9" name="Google Shape;149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96552" y="149650"/>
            <a:ext cx="172134" cy="19263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3"/>
          <p:cNvSpPr/>
          <p:nvPr>
            <p:ph idx="2" type="pic"/>
          </p:nvPr>
        </p:nvSpPr>
        <p:spPr>
          <a:xfrm>
            <a:off x="6195975" y="1418950"/>
            <a:ext cx="2631600" cy="2483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 rooute and content (left)">
  <p:cSld name="SECTION_TITLE_AND_DESCRIPTION_1_1_1_1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4"/>
          <p:cNvSpPr txBox="1"/>
          <p:nvPr>
            <p:ph type="title"/>
          </p:nvPr>
        </p:nvSpPr>
        <p:spPr>
          <a:xfrm>
            <a:off x="4882250" y="743325"/>
            <a:ext cx="4163400" cy="5472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pic>
        <p:nvPicPr>
          <p:cNvPr id="153" name="Google Shape;153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96552" y="149650"/>
            <a:ext cx="172134" cy="192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4"/>
          <p:cNvPicPr preferRelativeResize="0"/>
          <p:nvPr/>
        </p:nvPicPr>
        <p:blipFill rotWithShape="1">
          <a:blip r:embed="rId3">
            <a:alphaModFix/>
          </a:blip>
          <a:srcRect b="4964" l="27264" r="12959" t="2920"/>
          <a:stretch/>
        </p:blipFill>
        <p:spPr>
          <a:xfrm rot="-5400000">
            <a:off x="-341589" y="333662"/>
            <a:ext cx="5159777" cy="4472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4"/>
          <p:cNvSpPr/>
          <p:nvPr>
            <p:ph idx="2" type="pic"/>
          </p:nvPr>
        </p:nvSpPr>
        <p:spPr>
          <a:xfrm>
            <a:off x="874525" y="1418950"/>
            <a:ext cx="2631600" cy="248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6" name="Google Shape;156;p34"/>
          <p:cNvSpPr txBox="1"/>
          <p:nvPr>
            <p:ph idx="1" type="body"/>
          </p:nvPr>
        </p:nvSpPr>
        <p:spPr>
          <a:xfrm>
            <a:off x="4882250" y="1341350"/>
            <a:ext cx="3181200" cy="28341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sp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 rooute and content (right)">
  <p:cSld name="SECTION_TITLE_AND_DESCRIPTION_1_1_1_1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35"/>
          <p:cNvPicPr preferRelativeResize="0"/>
          <p:nvPr/>
        </p:nvPicPr>
        <p:blipFill rotWithShape="1">
          <a:blip r:embed="rId2">
            <a:alphaModFix/>
          </a:blip>
          <a:srcRect b="0" l="27264" r="12959" t="2372"/>
          <a:stretch/>
        </p:blipFill>
        <p:spPr>
          <a:xfrm rot="5400000">
            <a:off x="4190749" y="199802"/>
            <a:ext cx="5159777" cy="474022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0" name="Google Shape;16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6552" y="149650"/>
            <a:ext cx="172134" cy="192639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5"/>
          <p:cNvSpPr/>
          <p:nvPr>
            <p:ph idx="2" type="pic"/>
          </p:nvPr>
        </p:nvSpPr>
        <p:spPr>
          <a:xfrm>
            <a:off x="5716500" y="1418950"/>
            <a:ext cx="2631600" cy="24831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35"/>
          <p:cNvSpPr txBox="1"/>
          <p:nvPr>
            <p:ph idx="1" type="body"/>
          </p:nvPr>
        </p:nvSpPr>
        <p:spPr>
          <a:xfrm>
            <a:off x="490250" y="1341350"/>
            <a:ext cx="3181200" cy="28341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sp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63" name="Google Shape;163;p35"/>
          <p:cNvSpPr txBox="1"/>
          <p:nvPr>
            <p:ph type="title"/>
          </p:nvPr>
        </p:nvSpPr>
        <p:spPr>
          <a:xfrm>
            <a:off x="490250" y="743325"/>
            <a:ext cx="5263200" cy="5034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">
  <p:cSld name="BIG_NUMBER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6"/>
          <p:cNvSpPr txBox="1"/>
          <p:nvPr>
            <p:ph hasCustomPrompt="1" type="title"/>
          </p:nvPr>
        </p:nvSpPr>
        <p:spPr>
          <a:xfrm>
            <a:off x="490250" y="1784700"/>
            <a:ext cx="2520000" cy="10962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5353"/>
              </a:buClr>
              <a:buSzPts val="6500"/>
              <a:buNone/>
              <a:defRPr sz="6500">
                <a:solidFill>
                  <a:srgbClr val="00535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500"/>
              <a:buNone/>
              <a:defRPr sz="65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500"/>
              <a:buNone/>
              <a:defRPr sz="65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500"/>
              <a:buNone/>
              <a:defRPr sz="65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500"/>
              <a:buNone/>
              <a:defRPr sz="65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500"/>
              <a:buNone/>
              <a:defRPr sz="65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500"/>
              <a:buNone/>
              <a:defRPr sz="65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500"/>
              <a:buNone/>
              <a:defRPr sz="65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500"/>
              <a:buNone/>
              <a:defRPr sz="65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6" name="Google Shape;16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7" name="Google Shape;167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96552" y="149650"/>
            <a:ext cx="172134" cy="19263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6"/>
          <p:cNvSpPr txBox="1"/>
          <p:nvPr>
            <p:ph idx="1" type="subTitle"/>
          </p:nvPr>
        </p:nvSpPr>
        <p:spPr>
          <a:xfrm>
            <a:off x="490250" y="2810225"/>
            <a:ext cx="2520000" cy="16356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36"/>
          <p:cNvSpPr txBox="1"/>
          <p:nvPr>
            <p:ph hasCustomPrompt="1" idx="2" type="title"/>
          </p:nvPr>
        </p:nvSpPr>
        <p:spPr>
          <a:xfrm>
            <a:off x="3383400" y="1784700"/>
            <a:ext cx="2520000" cy="10962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2pPr>
            <a:lvl3pPr lvl="2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3pPr>
            <a:lvl4pPr lvl="3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4pPr>
            <a:lvl5pPr lvl="4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5pPr>
            <a:lvl6pPr lvl="5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6pPr>
            <a:lvl7pPr lvl="6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7pPr>
            <a:lvl8pPr lvl="7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8pPr>
            <a:lvl9pPr lvl="8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9pPr>
          </a:lstStyle>
          <a:p>
            <a:r>
              <a:t>xx%</a:t>
            </a:r>
          </a:p>
        </p:txBody>
      </p:sp>
      <p:sp>
        <p:nvSpPr>
          <p:cNvPr id="170" name="Google Shape;170;p36"/>
          <p:cNvSpPr txBox="1"/>
          <p:nvPr>
            <p:ph idx="3" type="subTitle"/>
          </p:nvPr>
        </p:nvSpPr>
        <p:spPr>
          <a:xfrm>
            <a:off x="3383400" y="2810225"/>
            <a:ext cx="2520000" cy="16356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6"/>
          <p:cNvSpPr txBox="1"/>
          <p:nvPr>
            <p:ph hasCustomPrompt="1" idx="4" type="title"/>
          </p:nvPr>
        </p:nvSpPr>
        <p:spPr>
          <a:xfrm>
            <a:off x="6276550" y="1784700"/>
            <a:ext cx="2520000" cy="10962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2pPr>
            <a:lvl3pPr lvl="2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3pPr>
            <a:lvl4pPr lvl="3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4pPr>
            <a:lvl5pPr lvl="4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5pPr>
            <a:lvl6pPr lvl="5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6pPr>
            <a:lvl7pPr lvl="6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7pPr>
            <a:lvl8pPr lvl="7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8pPr>
            <a:lvl9pPr lvl="8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9pPr>
          </a:lstStyle>
          <a:p>
            <a:r>
              <a:t>xx%</a:t>
            </a:r>
          </a:p>
        </p:txBody>
      </p:sp>
      <p:sp>
        <p:nvSpPr>
          <p:cNvPr id="172" name="Google Shape;172;p36"/>
          <p:cNvSpPr txBox="1"/>
          <p:nvPr>
            <p:ph idx="5" type="subTitle"/>
          </p:nvPr>
        </p:nvSpPr>
        <p:spPr>
          <a:xfrm>
            <a:off x="6276550" y="2810225"/>
            <a:ext cx="2520000" cy="16356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6"/>
          <p:cNvSpPr txBox="1"/>
          <p:nvPr>
            <p:ph idx="6" type="title"/>
          </p:nvPr>
        </p:nvSpPr>
        <p:spPr>
          <a:xfrm>
            <a:off x="311700" y="531725"/>
            <a:ext cx="8520600" cy="5727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/>
        </p:txBody>
      </p:sp>
      <p:sp>
        <p:nvSpPr>
          <p:cNvPr id="174" name="Google Shape;174;p36"/>
          <p:cNvSpPr txBox="1"/>
          <p:nvPr>
            <p:ph idx="7" type="subTitle"/>
          </p:nvPr>
        </p:nvSpPr>
        <p:spPr>
          <a:xfrm>
            <a:off x="906750" y="1104425"/>
            <a:ext cx="7330500" cy="4668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1600"/>
              </a:spcBef>
              <a:spcAft>
                <a:spcPts val="16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36"/>
          <p:cNvSpPr/>
          <p:nvPr/>
        </p:nvSpPr>
        <p:spPr>
          <a:xfrm>
            <a:off x="-15800" y="3562525"/>
            <a:ext cx="9191625" cy="1600200"/>
          </a:xfrm>
          <a:custGeom>
            <a:rect b="b" l="l" r="r" t="t"/>
            <a:pathLst>
              <a:path extrusionOk="0" h="64008" w="367665">
                <a:moveTo>
                  <a:pt x="0" y="38481"/>
                </a:moveTo>
                <a:lnTo>
                  <a:pt x="0" y="64008"/>
                </a:lnTo>
                <a:lnTo>
                  <a:pt x="367665" y="64008"/>
                </a:lnTo>
                <a:lnTo>
                  <a:pt x="36766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– Big">
  <p:cSld name="BIG_NUMBER_1_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7"/>
          <p:cNvSpPr txBox="1"/>
          <p:nvPr>
            <p:ph hasCustomPrompt="1" type="title"/>
          </p:nvPr>
        </p:nvSpPr>
        <p:spPr>
          <a:xfrm>
            <a:off x="3642300" y="1125300"/>
            <a:ext cx="5501700" cy="26460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200"/>
              <a:buNone/>
              <a:defRPr sz="16200"/>
            </a:lvl1pPr>
            <a:lvl2pPr lvl="1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2pPr>
            <a:lvl3pPr lvl="2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3pPr>
            <a:lvl4pPr lvl="3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4pPr>
            <a:lvl5pPr lvl="4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5pPr>
            <a:lvl6pPr lvl="5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6pPr>
            <a:lvl7pPr lvl="6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7pPr>
            <a:lvl8pPr lvl="7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8pPr>
            <a:lvl9pPr lvl="8"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9pPr>
          </a:lstStyle>
          <a:p>
            <a:r>
              <a:t>xx%</a:t>
            </a:r>
          </a:p>
        </p:txBody>
      </p:sp>
      <p:pic>
        <p:nvPicPr>
          <p:cNvPr id="178" name="Google Shape;178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96552" y="149650"/>
            <a:ext cx="172134" cy="192639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7"/>
          <p:cNvSpPr/>
          <p:nvPr>
            <p:ph idx="2" type="pic"/>
          </p:nvPr>
        </p:nvSpPr>
        <p:spPr>
          <a:xfrm>
            <a:off x="1100775" y="1627000"/>
            <a:ext cx="1652100" cy="16671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37"/>
          <p:cNvSpPr txBox="1"/>
          <p:nvPr>
            <p:ph idx="1" type="subTitle"/>
          </p:nvPr>
        </p:nvSpPr>
        <p:spPr>
          <a:xfrm>
            <a:off x="3742550" y="1033525"/>
            <a:ext cx="5270400" cy="5604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7"/>
          <p:cNvSpPr txBox="1"/>
          <p:nvPr>
            <p:ph idx="3" type="subTitle"/>
          </p:nvPr>
        </p:nvSpPr>
        <p:spPr>
          <a:xfrm>
            <a:off x="3742550" y="3372177"/>
            <a:ext cx="5270400" cy="5604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8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96552" y="149650"/>
            <a:ext cx="172134" cy="19263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8"/>
          <p:cNvSpPr txBox="1"/>
          <p:nvPr>
            <p:ph idx="1" type="body"/>
          </p:nvPr>
        </p:nvSpPr>
        <p:spPr>
          <a:xfrm>
            <a:off x="311700" y="4299725"/>
            <a:ext cx="5991000" cy="3819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– 3">
  <p:cSld name="CUSTOM_6_1_1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96552" y="149650"/>
            <a:ext cx="172134" cy="19263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40"/>
          <p:cNvSpPr txBox="1"/>
          <p:nvPr>
            <p:ph type="title"/>
          </p:nvPr>
        </p:nvSpPr>
        <p:spPr>
          <a:xfrm>
            <a:off x="4458651" y="1504625"/>
            <a:ext cx="4244400" cy="5727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190" name="Google Shape;190;p40"/>
          <p:cNvSpPr txBox="1"/>
          <p:nvPr>
            <p:ph idx="1" type="subTitle"/>
          </p:nvPr>
        </p:nvSpPr>
        <p:spPr>
          <a:xfrm>
            <a:off x="4458650" y="2172700"/>
            <a:ext cx="4041000" cy="21459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1" name="Google Shape;191;p40"/>
          <p:cNvPicPr preferRelativeResize="0"/>
          <p:nvPr/>
        </p:nvPicPr>
        <p:blipFill rotWithShape="1">
          <a:blip r:embed="rId3">
            <a:alphaModFix/>
          </a:blip>
          <a:srcRect b="0" l="21595" r="11546" t="11394"/>
          <a:stretch/>
        </p:blipFill>
        <p:spPr>
          <a:xfrm rot="-5400000">
            <a:off x="-660962" y="652038"/>
            <a:ext cx="5153700" cy="384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– 4">
  <p:cSld name="CUSTOM_6_1_1_1">
    <p:bg>
      <p:bgPr>
        <a:solidFill>
          <a:schemeClr val="lt2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96552" y="149650"/>
            <a:ext cx="172134" cy="19263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41"/>
          <p:cNvSpPr txBox="1"/>
          <p:nvPr>
            <p:ph type="title"/>
          </p:nvPr>
        </p:nvSpPr>
        <p:spPr>
          <a:xfrm>
            <a:off x="4458651" y="1504625"/>
            <a:ext cx="4244400" cy="5727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 Black"/>
              <a:buNone/>
              <a:defRPr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 Black"/>
              <a:buNone/>
              <a:defRPr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 Black"/>
              <a:buNone/>
              <a:defRPr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 Black"/>
              <a:buNone/>
              <a:defRPr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 Black"/>
              <a:buNone/>
              <a:defRPr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 Black"/>
              <a:buNone/>
              <a:defRPr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 Black"/>
              <a:buNone/>
              <a:defRPr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 Black"/>
              <a:buNone/>
              <a:defRPr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195" name="Google Shape;195;p41"/>
          <p:cNvSpPr txBox="1"/>
          <p:nvPr>
            <p:ph idx="1" type="subTitle"/>
          </p:nvPr>
        </p:nvSpPr>
        <p:spPr>
          <a:xfrm>
            <a:off x="4458650" y="2172700"/>
            <a:ext cx="4041000" cy="21459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96" name="Google Shape;196;p41"/>
          <p:cNvPicPr preferRelativeResize="0"/>
          <p:nvPr/>
        </p:nvPicPr>
        <p:blipFill rotWithShape="1">
          <a:blip r:embed="rId3">
            <a:alphaModFix/>
          </a:blip>
          <a:srcRect b="0" l="21595" r="11546" t="11394"/>
          <a:stretch/>
        </p:blipFill>
        <p:spPr>
          <a:xfrm rot="-5400000">
            <a:off x="-660962" y="652038"/>
            <a:ext cx="5153700" cy="384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– 1">
  <p:cSld name="CUSTOM_1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42"/>
          <p:cNvPicPr preferRelativeResize="0"/>
          <p:nvPr/>
        </p:nvPicPr>
        <p:blipFill rotWithShape="1">
          <a:blip r:embed="rId2">
            <a:alphaModFix/>
          </a:blip>
          <a:srcRect b="0" l="16792" r="17915" t="0"/>
          <a:stretch/>
        </p:blipFill>
        <p:spPr>
          <a:xfrm rot="5400000">
            <a:off x="4371824" y="346076"/>
            <a:ext cx="5140475" cy="442842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42"/>
          <p:cNvSpPr txBox="1"/>
          <p:nvPr>
            <p:ph type="title"/>
          </p:nvPr>
        </p:nvSpPr>
        <p:spPr>
          <a:xfrm>
            <a:off x="524825" y="1017800"/>
            <a:ext cx="6289500" cy="5727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pic>
        <p:nvPicPr>
          <p:cNvPr id="200" name="Google Shape;20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6552" y="149650"/>
            <a:ext cx="172134" cy="192639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2"/>
          <p:cNvSpPr txBox="1"/>
          <p:nvPr>
            <p:ph idx="1" type="subTitle"/>
          </p:nvPr>
        </p:nvSpPr>
        <p:spPr>
          <a:xfrm>
            <a:off x="524825" y="1685875"/>
            <a:ext cx="4203000" cy="27783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– 5">
  <p:cSld name="CUSTOM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3"/>
          <p:cNvSpPr txBox="1"/>
          <p:nvPr>
            <p:ph type="title"/>
          </p:nvPr>
        </p:nvSpPr>
        <p:spPr>
          <a:xfrm>
            <a:off x="524825" y="865400"/>
            <a:ext cx="6289500" cy="5727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Font typeface="Roboto Black"/>
              <a:buNone/>
              <a:defRPr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pic>
        <p:nvPicPr>
          <p:cNvPr id="204" name="Google Shape;204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96552" y="149650"/>
            <a:ext cx="172134" cy="192639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43"/>
          <p:cNvSpPr txBox="1"/>
          <p:nvPr>
            <p:ph idx="1" type="subTitle"/>
          </p:nvPr>
        </p:nvSpPr>
        <p:spPr>
          <a:xfrm>
            <a:off x="524825" y="1533475"/>
            <a:ext cx="4203000" cy="15729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43"/>
          <p:cNvPicPr preferRelativeResize="0"/>
          <p:nvPr/>
        </p:nvPicPr>
        <p:blipFill rotWithShape="1">
          <a:blip r:embed="rId3">
            <a:alphaModFix/>
          </a:blip>
          <a:srcRect b="11262" l="0" r="0" t="54305"/>
          <a:stretch/>
        </p:blipFill>
        <p:spPr>
          <a:xfrm>
            <a:off x="0" y="3372476"/>
            <a:ext cx="9144003" cy="1771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– 6">
  <p:cSld name="CUSTOM_1_1_1">
    <p:bg>
      <p:bgPr>
        <a:solidFill>
          <a:schemeClr val="lt2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96552" y="149650"/>
            <a:ext cx="172134" cy="192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44"/>
          <p:cNvPicPr preferRelativeResize="0"/>
          <p:nvPr/>
        </p:nvPicPr>
        <p:blipFill rotWithShape="1">
          <a:blip r:embed="rId3">
            <a:alphaModFix/>
          </a:blip>
          <a:srcRect b="11262" l="0" r="0" t="54305"/>
          <a:stretch/>
        </p:blipFill>
        <p:spPr>
          <a:xfrm>
            <a:off x="0" y="3372476"/>
            <a:ext cx="9144003" cy="177102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44"/>
          <p:cNvSpPr txBox="1"/>
          <p:nvPr>
            <p:ph type="title"/>
          </p:nvPr>
        </p:nvSpPr>
        <p:spPr>
          <a:xfrm>
            <a:off x="524825" y="865400"/>
            <a:ext cx="6289500" cy="5727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 Black"/>
              <a:buNone/>
              <a:defRPr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 Black"/>
              <a:buNone/>
              <a:defRPr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 Black"/>
              <a:buNone/>
              <a:defRPr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 Black"/>
              <a:buNone/>
              <a:defRPr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 Black"/>
              <a:buNone/>
              <a:defRPr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 Black"/>
              <a:buNone/>
              <a:defRPr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 Black"/>
              <a:buNone/>
              <a:defRPr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 Black"/>
              <a:buNone/>
              <a:defRPr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9pPr>
          </a:lstStyle>
          <a:p/>
        </p:txBody>
      </p:sp>
      <p:sp>
        <p:nvSpPr>
          <p:cNvPr id="211" name="Google Shape;211;p44"/>
          <p:cNvSpPr txBox="1"/>
          <p:nvPr>
            <p:ph idx="1" type="subTitle"/>
          </p:nvPr>
        </p:nvSpPr>
        <p:spPr>
          <a:xfrm>
            <a:off x="524825" y="1533475"/>
            <a:ext cx="4203000" cy="15729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slide">
  <p:cSld name="CUSTOM_10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5"/>
          <p:cNvSpPr txBox="1"/>
          <p:nvPr>
            <p:ph idx="1" type="subTitle"/>
          </p:nvPr>
        </p:nvSpPr>
        <p:spPr>
          <a:xfrm>
            <a:off x="3971950" y="1123100"/>
            <a:ext cx="4471500" cy="31095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45"/>
          <p:cNvSpPr/>
          <p:nvPr/>
        </p:nvSpPr>
        <p:spPr>
          <a:xfrm>
            <a:off x="-24300" y="-7050"/>
            <a:ext cx="3542150" cy="5178325"/>
          </a:xfrm>
          <a:custGeom>
            <a:rect b="b" l="l" r="r" t="t"/>
            <a:pathLst>
              <a:path extrusionOk="0" h="207133" w="141686">
                <a:moveTo>
                  <a:pt x="830" y="0"/>
                </a:moveTo>
                <a:lnTo>
                  <a:pt x="0" y="206752"/>
                </a:lnTo>
                <a:lnTo>
                  <a:pt x="119634" y="207133"/>
                </a:lnTo>
                <a:lnTo>
                  <a:pt x="141686" y="25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15" name="Google Shape;215;p45"/>
          <p:cNvSpPr txBox="1"/>
          <p:nvPr>
            <p:ph type="title"/>
          </p:nvPr>
        </p:nvSpPr>
        <p:spPr>
          <a:xfrm>
            <a:off x="520175" y="1209550"/>
            <a:ext cx="2604600" cy="17817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216" name="Google Shape;216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96552" y="149650"/>
            <a:ext cx="172134" cy="192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Summary">
  <p:cSld name="CUSTOM_1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96552" y="149650"/>
            <a:ext cx="172134" cy="192639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46"/>
          <p:cNvSpPr/>
          <p:nvPr/>
        </p:nvSpPr>
        <p:spPr>
          <a:xfrm>
            <a:off x="0" y="4257875"/>
            <a:ext cx="8472600" cy="8853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2475" lIns="92475" spcFirstLastPara="1" rIns="92475" wrap="square" tIns="92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46"/>
          <p:cNvSpPr txBox="1"/>
          <p:nvPr>
            <p:ph type="title"/>
          </p:nvPr>
        </p:nvSpPr>
        <p:spPr>
          <a:xfrm>
            <a:off x="947450" y="1079450"/>
            <a:ext cx="7178100" cy="30477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ox slide - equal 2">
  <p:cSld name="TITLE_AND_BODY_1_2_2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7"/>
          <p:cNvSpPr/>
          <p:nvPr/>
        </p:nvSpPr>
        <p:spPr>
          <a:xfrm>
            <a:off x="-100" y="4912475"/>
            <a:ext cx="9147600" cy="231000"/>
          </a:xfrm>
          <a:prstGeom prst="rect">
            <a:avLst/>
          </a:prstGeom>
          <a:solidFill>
            <a:srgbClr val="00CC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47"/>
          <p:cNvSpPr txBox="1"/>
          <p:nvPr>
            <p:ph idx="12" type="sldNum"/>
          </p:nvPr>
        </p:nvSpPr>
        <p:spPr>
          <a:xfrm>
            <a:off x="8624850" y="4901897"/>
            <a:ext cx="548700" cy="2310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>
            <a:lvl1pPr lvl="0">
              <a:buNone/>
              <a:defRPr>
                <a:solidFill>
                  <a:srgbClr val="00CCBC"/>
                </a:solidFill>
              </a:defRPr>
            </a:lvl1pPr>
            <a:lvl2pPr lvl="1">
              <a:buNone/>
              <a:defRPr>
                <a:solidFill>
                  <a:srgbClr val="00CCBC"/>
                </a:solidFill>
              </a:defRPr>
            </a:lvl2pPr>
            <a:lvl3pPr lvl="2">
              <a:buNone/>
              <a:defRPr>
                <a:solidFill>
                  <a:srgbClr val="00CCBC"/>
                </a:solidFill>
              </a:defRPr>
            </a:lvl3pPr>
            <a:lvl4pPr lvl="3">
              <a:buNone/>
              <a:defRPr>
                <a:solidFill>
                  <a:srgbClr val="00CCBC"/>
                </a:solidFill>
              </a:defRPr>
            </a:lvl4pPr>
            <a:lvl5pPr lvl="4">
              <a:buNone/>
              <a:defRPr>
                <a:solidFill>
                  <a:srgbClr val="00CCBC"/>
                </a:solidFill>
              </a:defRPr>
            </a:lvl5pPr>
            <a:lvl6pPr lvl="5">
              <a:buNone/>
              <a:defRPr>
                <a:solidFill>
                  <a:srgbClr val="00CCBC"/>
                </a:solidFill>
              </a:defRPr>
            </a:lvl6pPr>
            <a:lvl7pPr lvl="6">
              <a:buNone/>
              <a:defRPr>
                <a:solidFill>
                  <a:srgbClr val="00CCBC"/>
                </a:solidFill>
              </a:defRPr>
            </a:lvl7pPr>
            <a:lvl8pPr lvl="7">
              <a:buNone/>
              <a:defRPr>
                <a:solidFill>
                  <a:srgbClr val="00CCBC"/>
                </a:solidFill>
              </a:defRPr>
            </a:lvl8pPr>
            <a:lvl9pPr lvl="8">
              <a:buNone/>
              <a:defRPr>
                <a:solidFill>
                  <a:srgbClr val="00CCBC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4" name="Google Shape;224;p47"/>
          <p:cNvSpPr txBox="1"/>
          <p:nvPr>
            <p:ph type="title"/>
          </p:nvPr>
        </p:nvSpPr>
        <p:spPr>
          <a:xfrm>
            <a:off x="302400" y="126000"/>
            <a:ext cx="8226300" cy="3090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2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25" name="Google Shape;225;p47"/>
          <p:cNvSpPr txBox="1"/>
          <p:nvPr>
            <p:ph idx="1" type="subTitle"/>
          </p:nvPr>
        </p:nvSpPr>
        <p:spPr>
          <a:xfrm>
            <a:off x="302400" y="422441"/>
            <a:ext cx="8226300" cy="264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rgbClr val="8C9B9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16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 sz="16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 sz="16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 sz="16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 sz="16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 sz="16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 sz="16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 sz="16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26" name="Google Shape;226;p47"/>
          <p:cNvSpPr txBox="1"/>
          <p:nvPr>
            <p:ph idx="2" type="sldNum"/>
          </p:nvPr>
        </p:nvSpPr>
        <p:spPr>
          <a:xfrm>
            <a:off x="8625600" y="4903200"/>
            <a:ext cx="548700" cy="2304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>
            <a:lvl1pPr lvl="0">
              <a:buNone/>
              <a:defRPr b="1" sz="1200">
                <a:solidFill>
                  <a:srgbClr val="000000"/>
                </a:solidFill>
              </a:defRPr>
            </a:lvl1pPr>
            <a:lvl2pPr lvl="1">
              <a:buNone/>
              <a:defRPr b="1" sz="1200">
                <a:solidFill>
                  <a:srgbClr val="000000"/>
                </a:solidFill>
              </a:defRPr>
            </a:lvl2pPr>
            <a:lvl3pPr lvl="2">
              <a:buNone/>
              <a:defRPr b="1" sz="1200">
                <a:solidFill>
                  <a:srgbClr val="000000"/>
                </a:solidFill>
              </a:defRPr>
            </a:lvl3pPr>
            <a:lvl4pPr lvl="3">
              <a:buNone/>
              <a:defRPr b="1" sz="1200">
                <a:solidFill>
                  <a:srgbClr val="000000"/>
                </a:solidFill>
              </a:defRPr>
            </a:lvl4pPr>
            <a:lvl5pPr lvl="4">
              <a:buNone/>
              <a:defRPr b="1" sz="1200">
                <a:solidFill>
                  <a:srgbClr val="000000"/>
                </a:solidFill>
              </a:defRPr>
            </a:lvl5pPr>
            <a:lvl6pPr lvl="5">
              <a:buNone/>
              <a:defRPr b="1" sz="1200">
                <a:solidFill>
                  <a:srgbClr val="000000"/>
                </a:solidFill>
              </a:defRPr>
            </a:lvl6pPr>
            <a:lvl7pPr lvl="6">
              <a:buNone/>
              <a:defRPr b="1" sz="1200">
                <a:solidFill>
                  <a:srgbClr val="000000"/>
                </a:solidFill>
              </a:defRPr>
            </a:lvl7pPr>
            <a:lvl8pPr lvl="7">
              <a:buNone/>
              <a:defRPr b="1" sz="1200">
                <a:solidFill>
                  <a:srgbClr val="000000"/>
                </a:solidFill>
              </a:defRPr>
            </a:lvl8pPr>
            <a:lvl9pPr lvl="8">
              <a:buNone/>
              <a:defRPr b="1"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7" name="Google Shape;227;p47"/>
          <p:cNvSpPr txBox="1"/>
          <p:nvPr>
            <p:ph idx="3" type="subTitle"/>
          </p:nvPr>
        </p:nvSpPr>
        <p:spPr>
          <a:xfrm>
            <a:off x="302400" y="4921129"/>
            <a:ext cx="8539200" cy="21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0000"/>
              </a:lnSpc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pic>
        <p:nvPicPr>
          <p:cNvPr id="228" name="Google Shape;228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626" y="119350"/>
            <a:ext cx="633250" cy="46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5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39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29" Type="http://schemas.openxmlformats.org/officeDocument/2006/relationships/slideLayout" Target="../slideLayouts/slideLayout41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31" Type="http://schemas.openxmlformats.org/officeDocument/2006/relationships/slideLayout" Target="../slideLayouts/slideLayout43.xml"/><Relationship Id="rId3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23.xml"/><Relationship Id="rId33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22.xml"/><Relationship Id="rId32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34" Type="http://schemas.openxmlformats.org/officeDocument/2006/relationships/theme" Target="../theme/theme1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FBFBF7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2475" lIns="92475" spcFirstLastPara="1" rIns="92475" wrap="square" tIns="924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Roboto Black"/>
              <a:buNone/>
              <a:defRPr sz="37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None/>
              <a:defRPr sz="29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None/>
              <a:defRPr sz="29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None/>
              <a:defRPr sz="29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None/>
              <a:defRPr sz="29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None/>
              <a:defRPr sz="29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None/>
              <a:defRPr sz="29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None/>
              <a:defRPr sz="29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None/>
              <a:defRPr sz="2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2475" lIns="92475" spcFirstLastPara="1" rIns="92475" wrap="square" tIns="9247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oboto"/>
              <a:buChar char="■"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475" lIns="92475" spcFirstLastPara="1" rIns="92475" wrap="square" tIns="9247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1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2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8"/>
          <p:cNvSpPr txBox="1"/>
          <p:nvPr/>
        </p:nvSpPr>
        <p:spPr>
          <a:xfrm>
            <a:off x="492872" y="3941500"/>
            <a:ext cx="3181200" cy="40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54625" lIns="92475" spcFirstLastPara="1" rIns="92475" wrap="square" tIns="54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December</a:t>
            </a:r>
            <a:r>
              <a:rPr lang="en-GB" sz="16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 2025</a:t>
            </a:r>
            <a:endParaRPr sz="160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34" name="Google Shape;234;p48"/>
          <p:cNvSpPr txBox="1"/>
          <p:nvPr>
            <p:ph idx="4294967295" type="ctrTitle"/>
          </p:nvPr>
        </p:nvSpPr>
        <p:spPr>
          <a:xfrm rot="-148">
            <a:off x="419300" y="1919067"/>
            <a:ext cx="6949200" cy="8928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solidFill>
                  <a:schemeClr val="dk1"/>
                </a:solidFill>
              </a:rPr>
              <a:t>Family Dinneroo</a:t>
            </a:r>
            <a:endParaRPr sz="5300">
              <a:solidFill>
                <a:schemeClr val="dk1"/>
              </a:solidFill>
            </a:endParaRPr>
          </a:p>
        </p:txBody>
      </p:sp>
      <p:sp>
        <p:nvSpPr>
          <p:cNvPr id="235" name="Google Shape;235;p48"/>
          <p:cNvSpPr txBox="1"/>
          <p:nvPr>
            <p:ph idx="4294967295" type="subTitle"/>
          </p:nvPr>
        </p:nvSpPr>
        <p:spPr>
          <a:xfrm rot="-198">
            <a:off x="432325" y="2708926"/>
            <a:ext cx="5218200" cy="12324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2400">
                <a:solidFill>
                  <a:schemeClr val="dk1"/>
                </a:solidFill>
              </a:rPr>
              <a:t>Dish Analysis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9"/>
          <p:cNvSpPr txBox="1"/>
          <p:nvPr>
            <p:ph type="title"/>
          </p:nvPr>
        </p:nvSpPr>
        <p:spPr>
          <a:xfrm>
            <a:off x="302400" y="250732"/>
            <a:ext cx="8536800" cy="6819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/>
              <a:t>In aggregate, we offer c.155</a:t>
            </a:r>
            <a:r>
              <a:rPr baseline="30000" lang="en-GB" sz="2000"/>
              <a:t>1</a:t>
            </a:r>
            <a:r>
              <a:rPr lang="en-GB" sz="2000"/>
              <a:t> Family Dinneroo dishes, with a strong skew towards Asian and Italian cuisines and dish groups</a:t>
            </a:r>
            <a:endParaRPr sz="2000"/>
          </a:p>
        </p:txBody>
      </p:sp>
      <p:sp>
        <p:nvSpPr>
          <p:cNvPr id="241" name="Google Shape;241;p49"/>
          <p:cNvSpPr/>
          <p:nvPr/>
        </p:nvSpPr>
        <p:spPr>
          <a:xfrm>
            <a:off x="392501" y="1138281"/>
            <a:ext cx="2525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Dish by Cuisine</a:t>
            </a:r>
            <a:r>
              <a:rPr b="1"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(# Dishes) </a:t>
            </a:r>
            <a:br>
              <a:rPr b="1"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1"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As at 12-Dec</a:t>
            </a:r>
            <a:endParaRPr i="1"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49"/>
          <p:cNvSpPr/>
          <p:nvPr/>
        </p:nvSpPr>
        <p:spPr>
          <a:xfrm>
            <a:off x="4934381" y="1138270"/>
            <a:ext cx="39903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Dish by Dish Group</a:t>
            </a:r>
            <a:r>
              <a:rPr b="1" baseline="30000"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1"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b="1"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r>
              <a:rPr b="1"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Dishes</a:t>
            </a:r>
            <a:r>
              <a:rPr b="1"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br>
              <a:rPr b="1" baseline="30000"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1"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As at 12-Dec</a:t>
            </a:r>
            <a:endParaRPr b="1" baseline="30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3" name="Google Shape;243;p49"/>
          <p:cNvCxnSpPr/>
          <p:nvPr/>
        </p:nvCxnSpPr>
        <p:spPr>
          <a:xfrm>
            <a:off x="4570200" y="1138270"/>
            <a:ext cx="3600" cy="36267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244" name="Google Shape;244;p49" title="Chart"/>
          <p:cNvPicPr preferRelativeResize="0"/>
          <p:nvPr/>
        </p:nvPicPr>
        <p:blipFill rotWithShape="1">
          <a:blip r:embed="rId3">
            <a:alphaModFix/>
          </a:blip>
          <a:srcRect b="10785" l="0" r="0" t="0"/>
          <a:stretch/>
        </p:blipFill>
        <p:spPr>
          <a:xfrm>
            <a:off x="302400" y="1489132"/>
            <a:ext cx="3990201" cy="3153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49" title="Chart"/>
          <p:cNvPicPr preferRelativeResize="0"/>
          <p:nvPr/>
        </p:nvPicPr>
        <p:blipFill rotWithShape="1">
          <a:blip r:embed="rId4">
            <a:alphaModFix/>
          </a:blip>
          <a:srcRect b="8374" l="0" r="0" t="0"/>
          <a:stretch/>
        </p:blipFill>
        <p:spPr>
          <a:xfrm>
            <a:off x="4724100" y="1599858"/>
            <a:ext cx="4553856" cy="29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49"/>
          <p:cNvSpPr/>
          <p:nvPr/>
        </p:nvSpPr>
        <p:spPr>
          <a:xfrm>
            <a:off x="573700" y="4880325"/>
            <a:ext cx="85368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0E5454"/>
                </a:solidFill>
                <a:latin typeface="Roboto"/>
                <a:ea typeface="Roboto"/>
                <a:cs typeface="Roboto"/>
                <a:sym typeface="Roboto"/>
              </a:rPr>
              <a:t>1. Dish counts are based on the number of listed items. Where bundles offer a choice of 2+ distinct dish types (e.g. noodle dishes, rice bowls, or curries), each option is counted as a separate item.</a:t>
            </a:r>
            <a:br>
              <a:rPr lang="en-GB" sz="700">
                <a:solidFill>
                  <a:srgbClr val="0E5454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GB" sz="700">
                <a:solidFill>
                  <a:srgbClr val="0E5454"/>
                </a:solidFill>
                <a:latin typeface="Roboto"/>
                <a:ea typeface="Roboto"/>
                <a:cs typeface="Roboto"/>
                <a:sym typeface="Roboto"/>
              </a:rPr>
              <a:t>2. Colours indicate the predominant cuisine. This mapping is not one-to-one; e.g. “Grain Bowls” appear under both “Healthy” and “Middle Eastern” cuisines.</a:t>
            </a:r>
            <a:endParaRPr sz="700">
              <a:solidFill>
                <a:srgbClr val="0E545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50" title="Chart"/>
          <p:cNvPicPr preferRelativeResize="0"/>
          <p:nvPr/>
        </p:nvPicPr>
        <p:blipFill rotWithShape="1">
          <a:blip r:embed="rId3">
            <a:alphaModFix/>
          </a:blip>
          <a:srcRect b="9305" l="0" r="0" t="0"/>
          <a:stretch/>
        </p:blipFill>
        <p:spPr>
          <a:xfrm>
            <a:off x="377450" y="1511824"/>
            <a:ext cx="3230326" cy="3116874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50"/>
          <p:cNvSpPr/>
          <p:nvPr/>
        </p:nvSpPr>
        <p:spPr>
          <a:xfrm>
            <a:off x="392501" y="1138275"/>
            <a:ext cx="80100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Zone Cuisine Coverage (% of Active Zones with ≥1 Dish per Cuisine)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As at 12-Dec</a:t>
            </a:r>
            <a:endParaRPr i="1"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50"/>
          <p:cNvSpPr/>
          <p:nvPr/>
        </p:nvSpPr>
        <p:spPr>
          <a:xfrm>
            <a:off x="2732318" y="1394725"/>
            <a:ext cx="26646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Average Number of Dishes per Zone</a:t>
            </a:r>
            <a:endParaRPr b="1"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(Zones with ≥1 Dish Only)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54" name="Google Shape;254;p50"/>
          <p:cNvGraphicFramePr/>
          <p:nvPr/>
        </p:nvGraphicFramePr>
        <p:xfrm>
          <a:off x="3588368" y="1723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{2CC0AC44-3B3F-4032-9866-CB729F8D82DF}</a:tableStyleId>
              </a:tblPr>
              <a:tblGrid>
                <a:gridCol w="952500"/>
              </a:tblGrid>
              <a:tr h="426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 sz="10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/>
                </a:tc>
              </a:tr>
              <a:tr h="426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 sz="10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/>
                </a:tc>
              </a:tr>
              <a:tr h="426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0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/>
                </a:tc>
              </a:tr>
              <a:tr h="426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0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/>
                </a:tc>
              </a:tr>
              <a:tr h="426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0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/>
                </a:tc>
              </a:tr>
              <a:tr h="426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0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/>
                </a:tc>
              </a:tr>
              <a:tr h="426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sz="10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/>
                </a:tc>
              </a:tr>
            </a:tbl>
          </a:graphicData>
        </a:graphic>
      </p:graphicFrame>
      <p:sp>
        <p:nvSpPr>
          <p:cNvPr id="255" name="Google Shape;255;p50"/>
          <p:cNvSpPr/>
          <p:nvPr/>
        </p:nvSpPr>
        <p:spPr>
          <a:xfrm>
            <a:off x="4606018" y="1861900"/>
            <a:ext cx="4287900" cy="544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Asian </a:t>
            </a:r>
            <a:r>
              <a:rPr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b="1"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Italian</a:t>
            </a:r>
            <a:r>
              <a:rPr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cuisines are </a:t>
            </a:r>
            <a:r>
              <a:rPr b="1"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available in almost all active zones </a:t>
            </a:r>
            <a:r>
              <a:rPr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(≥97%) and </a:t>
            </a:r>
            <a:r>
              <a:rPr b="1"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offer strong depth</a:t>
            </a:r>
            <a:r>
              <a:rPr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(9+ dishes average per cuisine). Coverage and choice are already robust.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50"/>
          <p:cNvSpPr/>
          <p:nvPr/>
        </p:nvSpPr>
        <p:spPr>
          <a:xfrm>
            <a:off x="4606025" y="2530750"/>
            <a:ext cx="4287900" cy="1226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F8B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Middle Eastern, Mexican, and British</a:t>
            </a:r>
            <a:r>
              <a:rPr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cuisines show </a:t>
            </a:r>
            <a:r>
              <a:rPr b="1"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mid-to-low availability</a:t>
            </a:r>
            <a:r>
              <a:rPr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present in only 40–50% of zones; where they do exist, </a:t>
            </a:r>
            <a:r>
              <a:rPr b="1"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depth is limited </a:t>
            </a:r>
            <a:r>
              <a:rPr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(1 British, 3 Middle Eastern average)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This indicates a dual challenge: increase range with existing px </a:t>
            </a:r>
            <a:r>
              <a:rPr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 the zones already covered </a:t>
            </a:r>
            <a:r>
              <a:rPr b="1"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AND onboard new px / sites </a:t>
            </a:r>
            <a:r>
              <a:rPr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to extend coverage to the remaining 50-60% of zones.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50"/>
          <p:cNvSpPr/>
          <p:nvPr/>
        </p:nvSpPr>
        <p:spPr>
          <a:xfrm>
            <a:off x="4606025" y="3881481"/>
            <a:ext cx="4287900" cy="1067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Indian and Healthy</a:t>
            </a:r>
            <a:r>
              <a:rPr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cuisines have the </a:t>
            </a:r>
            <a:r>
              <a:rPr b="1"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lowest</a:t>
            </a:r>
            <a:r>
              <a:rPr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availability</a:t>
            </a:r>
            <a:r>
              <a:rPr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~25% zones; but show </a:t>
            </a:r>
            <a:r>
              <a:rPr b="1"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relatively good depth</a:t>
            </a:r>
            <a:r>
              <a:rPr b="1"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(5+ options)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This indicates the primary lever is to onboard new px /sites to increase coverage. </a:t>
            </a:r>
            <a:r>
              <a:rPr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There may also be an opportunity to work with multi-cuisine brands (e.g. Bill’s) to expand the Indian and Healthy offerings.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50"/>
          <p:cNvSpPr/>
          <p:nvPr/>
        </p:nvSpPr>
        <p:spPr>
          <a:xfrm>
            <a:off x="4331600" y="1898196"/>
            <a:ext cx="209400" cy="5442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50"/>
          <p:cNvSpPr/>
          <p:nvPr/>
        </p:nvSpPr>
        <p:spPr>
          <a:xfrm>
            <a:off x="4331600" y="2719628"/>
            <a:ext cx="209400" cy="1026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F8B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50"/>
          <p:cNvSpPr/>
          <p:nvPr/>
        </p:nvSpPr>
        <p:spPr>
          <a:xfrm>
            <a:off x="4331600" y="4023746"/>
            <a:ext cx="209400" cy="5442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B9D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50"/>
          <p:cNvSpPr txBox="1"/>
          <p:nvPr>
            <p:ph type="title"/>
          </p:nvPr>
        </p:nvSpPr>
        <p:spPr>
          <a:xfrm>
            <a:off x="302400" y="250732"/>
            <a:ext cx="8536800" cy="6819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/>
              <a:t>At the zone level, A</a:t>
            </a:r>
            <a:r>
              <a:rPr lang="en-GB" sz="2000"/>
              <a:t>sian and Italian continue to dominate on both breadth and depth of coverage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" name="Google Shape;266;p51"/>
          <p:cNvGraphicFramePr/>
          <p:nvPr/>
        </p:nvGraphicFramePr>
        <p:xfrm>
          <a:off x="4215286" y="19378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{2CC0AC44-3B3F-4032-9866-CB729F8D82DF}</a:tableStyleId>
              </a:tblPr>
              <a:tblGrid>
                <a:gridCol w="952500"/>
              </a:tblGrid>
              <a:tr h="115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b"/>
                </a:tc>
              </a:tr>
              <a:tr h="115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b"/>
                </a:tc>
              </a:tr>
              <a:tr h="115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b"/>
                </a:tc>
              </a:tr>
              <a:tr h="115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b"/>
                </a:tc>
              </a:tr>
              <a:tr h="115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b"/>
                </a:tc>
              </a:tr>
              <a:tr h="115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b"/>
                </a:tc>
              </a:tr>
              <a:tr h="115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b"/>
                </a:tc>
              </a:tr>
              <a:tr h="115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b"/>
                </a:tc>
              </a:tr>
              <a:tr h="115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b"/>
                </a:tc>
              </a:tr>
              <a:tr h="115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b"/>
                </a:tc>
              </a:tr>
              <a:tr h="115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b"/>
                </a:tc>
              </a:tr>
              <a:tr h="115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b"/>
                </a:tc>
              </a:tr>
              <a:tr h="115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b"/>
                </a:tc>
              </a:tr>
              <a:tr h="115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b"/>
                </a:tc>
              </a:tr>
              <a:tr h="115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b"/>
                </a:tc>
              </a:tr>
              <a:tr h="115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b"/>
                </a:tc>
              </a:tr>
              <a:tr h="115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b"/>
                </a:tc>
              </a:tr>
              <a:tr h="115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b"/>
                </a:tc>
              </a:tr>
              <a:tr h="115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b"/>
                </a:tc>
              </a:tr>
              <a:tr h="115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b"/>
                </a:tc>
              </a:tr>
              <a:tr h="115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b"/>
                </a:tc>
              </a:tr>
              <a:tr h="115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b"/>
                </a:tc>
              </a:tr>
              <a:tr h="115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b"/>
                </a:tc>
              </a:tr>
              <a:tr h="115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b"/>
                </a:tc>
              </a:tr>
            </a:tbl>
          </a:graphicData>
        </a:graphic>
      </p:graphicFrame>
      <p:sp>
        <p:nvSpPr>
          <p:cNvPr id="267" name="Google Shape;267;p51"/>
          <p:cNvSpPr/>
          <p:nvPr/>
        </p:nvSpPr>
        <p:spPr>
          <a:xfrm>
            <a:off x="392501" y="1138275"/>
            <a:ext cx="80100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Zone Dish Coverage (% of Active Zones with ≥1 Dish)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As at 12-Dec</a:t>
            </a:r>
            <a:endParaRPr i="1"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51"/>
          <p:cNvSpPr/>
          <p:nvPr/>
        </p:nvSpPr>
        <p:spPr>
          <a:xfrm>
            <a:off x="3359236" y="1394725"/>
            <a:ext cx="26646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Average Number of Dishes per Zone</a:t>
            </a:r>
            <a:endParaRPr b="1"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(Zones with ≥1 Dish Only)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51"/>
          <p:cNvSpPr/>
          <p:nvPr/>
        </p:nvSpPr>
        <p:spPr>
          <a:xfrm>
            <a:off x="5232725" y="1946299"/>
            <a:ext cx="3661200" cy="709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Asian and Italian dishes dominate on both breadth and depth of coverage</a:t>
            </a:r>
            <a:r>
              <a:rPr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with particularly strong representation across East Asian curries, katsu, rice bowls, noodle dishes (Asian) and </a:t>
            </a:r>
            <a:r>
              <a:rPr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pasta and pizza (Italian)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51"/>
          <p:cNvSpPr/>
          <p:nvPr/>
        </p:nvSpPr>
        <p:spPr>
          <a:xfrm>
            <a:off x="5232725" y="2721478"/>
            <a:ext cx="3661200" cy="4203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Dishes like</a:t>
            </a:r>
            <a:r>
              <a:rPr b="1"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shawarma </a:t>
            </a:r>
            <a:r>
              <a:rPr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and </a:t>
            </a:r>
            <a:r>
              <a:rPr b="1"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shepherd’s pie </a:t>
            </a:r>
            <a:r>
              <a:rPr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have </a:t>
            </a:r>
            <a:r>
              <a:rPr b="1"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moderate </a:t>
            </a:r>
            <a:r>
              <a:rPr b="1"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breath</a:t>
            </a:r>
            <a:r>
              <a:rPr b="1"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driven by px like Bill’s offering them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51"/>
          <p:cNvSpPr/>
          <p:nvPr/>
        </p:nvSpPr>
        <p:spPr>
          <a:xfrm>
            <a:off x="5232725" y="3222574"/>
            <a:ext cx="3661200" cy="4203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Lasagne underperforms relative to other Italian staples</a:t>
            </a:r>
            <a:r>
              <a:rPr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despite being a family favourite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51"/>
          <p:cNvSpPr/>
          <p:nvPr/>
        </p:nvSpPr>
        <p:spPr>
          <a:xfrm>
            <a:off x="4958525" y="1898200"/>
            <a:ext cx="209400" cy="8487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51"/>
          <p:cNvSpPr/>
          <p:nvPr/>
        </p:nvSpPr>
        <p:spPr>
          <a:xfrm>
            <a:off x="4958525" y="2835855"/>
            <a:ext cx="209400" cy="2214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4" name="Google Shape;274;p51" title="Chart"/>
          <p:cNvPicPr preferRelativeResize="0"/>
          <p:nvPr/>
        </p:nvPicPr>
        <p:blipFill rotWithShape="1">
          <a:blip r:embed="rId3">
            <a:alphaModFix/>
          </a:blip>
          <a:srcRect b="8858" l="0" r="0" t="0"/>
          <a:stretch/>
        </p:blipFill>
        <p:spPr>
          <a:xfrm>
            <a:off x="176825" y="1750674"/>
            <a:ext cx="4361175" cy="298777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51"/>
          <p:cNvSpPr/>
          <p:nvPr/>
        </p:nvSpPr>
        <p:spPr>
          <a:xfrm>
            <a:off x="5232725" y="3936977"/>
            <a:ext cx="3661200" cy="544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F8B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Mexican, Indian, and Healthy dishes show constrained breadth of coverage</a:t>
            </a:r>
            <a:r>
              <a:rPr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in part due to the limited geographic footprint of px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51"/>
          <p:cNvSpPr/>
          <p:nvPr/>
        </p:nvSpPr>
        <p:spPr>
          <a:xfrm>
            <a:off x="4958525" y="3671251"/>
            <a:ext cx="209400" cy="10398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F8B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51"/>
          <p:cNvSpPr/>
          <p:nvPr/>
        </p:nvSpPr>
        <p:spPr>
          <a:xfrm>
            <a:off x="4962383" y="3241451"/>
            <a:ext cx="209400" cy="2214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5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51"/>
          <p:cNvSpPr txBox="1"/>
          <p:nvPr>
            <p:ph type="title"/>
          </p:nvPr>
        </p:nvSpPr>
        <p:spPr>
          <a:xfrm>
            <a:off x="302400" y="250725"/>
            <a:ext cx="8710500" cy="6819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/>
              <a:t>This is reflected at dish level, with </a:t>
            </a:r>
            <a:r>
              <a:rPr lang="en-GB" sz="2000"/>
              <a:t>East </a:t>
            </a:r>
            <a:r>
              <a:rPr lang="en-GB" sz="2000"/>
              <a:t>Asian curries, rice, noodles</a:t>
            </a:r>
            <a:r>
              <a:rPr lang="en-GB" sz="2000"/>
              <a:t>, </a:t>
            </a:r>
            <a:br>
              <a:rPr lang="en-GB" sz="2000"/>
            </a:br>
            <a:r>
              <a:rPr lang="en-GB" sz="2000"/>
              <a:t>pasta</a:t>
            </a:r>
            <a:r>
              <a:rPr lang="en-GB" sz="2000"/>
              <a:t> &amp;</a:t>
            </a:r>
            <a:r>
              <a:rPr lang="en-GB" sz="2000"/>
              <a:t> pizza well covered, while other dishes </a:t>
            </a:r>
            <a:r>
              <a:rPr lang="en-GB" sz="2000"/>
              <a:t>remain</a:t>
            </a:r>
            <a:r>
              <a:rPr lang="en-GB" sz="2000"/>
              <a:t> underrepresented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2"/>
          <p:cNvSpPr txBox="1"/>
          <p:nvPr>
            <p:ph type="title"/>
          </p:nvPr>
        </p:nvSpPr>
        <p:spPr>
          <a:xfrm>
            <a:off x="302400" y="250725"/>
            <a:ext cx="8710500" cy="6819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We propose a zone MVP of 5+ px, </a:t>
            </a:r>
            <a:r>
              <a:rPr lang="en-GB" sz="2000">
                <a:solidFill>
                  <a:srgbClr val="FF0000"/>
                </a:solidFill>
              </a:rPr>
              <a:t>5+ cuisines, 20+ dishes</a:t>
            </a:r>
            <a:endParaRPr sz="2000"/>
          </a:p>
        </p:txBody>
      </p:sp>
      <p:sp>
        <p:nvSpPr>
          <p:cNvPr id="284" name="Google Shape;284;p52"/>
          <p:cNvSpPr/>
          <p:nvPr/>
        </p:nvSpPr>
        <p:spPr>
          <a:xfrm>
            <a:off x="682625" y="1691875"/>
            <a:ext cx="1780200" cy="75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5+ </a:t>
            </a:r>
            <a:b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Px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52"/>
          <p:cNvSpPr/>
          <p:nvPr/>
        </p:nvSpPr>
        <p:spPr>
          <a:xfrm>
            <a:off x="682625" y="2689025"/>
            <a:ext cx="1780200" cy="759600"/>
          </a:xfrm>
          <a:prstGeom prst="rect">
            <a:avLst/>
          </a:prstGeom>
          <a:solidFill>
            <a:srgbClr val="B9D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5+ </a:t>
            </a:r>
            <a:b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Cuisines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" name="Google Shape;286;p52"/>
          <p:cNvSpPr/>
          <p:nvPr/>
        </p:nvSpPr>
        <p:spPr>
          <a:xfrm>
            <a:off x="682625" y="3686175"/>
            <a:ext cx="1780200" cy="759600"/>
          </a:xfrm>
          <a:prstGeom prst="rect">
            <a:avLst/>
          </a:prstGeom>
          <a:solidFill>
            <a:srgbClr val="F8B7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20+ Dishes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52"/>
          <p:cNvSpPr/>
          <p:nvPr/>
        </p:nvSpPr>
        <p:spPr>
          <a:xfrm>
            <a:off x="2859775" y="1703150"/>
            <a:ext cx="6055200" cy="27426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Fran to fill out rationale with data on RHS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We should have data that shows variety complaints decrease a lot after 20+ dishes, 5+ px, 5+ cuisines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3"/>
          <p:cNvSpPr txBox="1"/>
          <p:nvPr>
            <p:ph type="title"/>
          </p:nvPr>
        </p:nvSpPr>
        <p:spPr>
          <a:xfrm>
            <a:off x="302400" y="250725"/>
            <a:ext cx="8710500" cy="6819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Currently, </a:t>
            </a:r>
            <a:r>
              <a:rPr lang="en-GB" sz="2000">
                <a:solidFill>
                  <a:srgbClr val="FF0000"/>
                </a:solidFill>
              </a:rPr>
              <a:t>X zones meet all 3 criteria, with the primary shortfall in cuisine breadth</a:t>
            </a:r>
            <a:endParaRPr sz="2000"/>
          </a:p>
        </p:txBody>
      </p:sp>
      <p:sp>
        <p:nvSpPr>
          <p:cNvPr id="293" name="Google Shape;293;p53"/>
          <p:cNvSpPr/>
          <p:nvPr/>
        </p:nvSpPr>
        <p:spPr>
          <a:xfrm>
            <a:off x="6946875" y="1329025"/>
            <a:ext cx="1780200" cy="75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 3 Criteria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53"/>
          <p:cNvSpPr/>
          <p:nvPr/>
        </p:nvSpPr>
        <p:spPr>
          <a:xfrm>
            <a:off x="501175" y="1329025"/>
            <a:ext cx="1780200" cy="75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5+ </a:t>
            </a:r>
            <a:b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Px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53"/>
          <p:cNvSpPr/>
          <p:nvPr/>
        </p:nvSpPr>
        <p:spPr>
          <a:xfrm>
            <a:off x="2459242" y="1329025"/>
            <a:ext cx="1780200" cy="759600"/>
          </a:xfrm>
          <a:prstGeom prst="rect">
            <a:avLst/>
          </a:prstGeom>
          <a:solidFill>
            <a:srgbClr val="B9D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5+ </a:t>
            </a:r>
            <a:b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Cuisines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53"/>
          <p:cNvSpPr/>
          <p:nvPr/>
        </p:nvSpPr>
        <p:spPr>
          <a:xfrm>
            <a:off x="4417308" y="1329025"/>
            <a:ext cx="1780200" cy="759600"/>
          </a:xfrm>
          <a:prstGeom prst="rect">
            <a:avLst/>
          </a:prstGeom>
          <a:solidFill>
            <a:srgbClr val="F8B7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20+ Dishes</a:t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7" name="Google Shape;297;p53" title="Chart"/>
          <p:cNvPicPr preferRelativeResize="0"/>
          <p:nvPr/>
        </p:nvPicPr>
        <p:blipFill rotWithShape="1">
          <a:blip r:embed="rId3">
            <a:alphaModFix/>
          </a:blip>
          <a:srcRect b="0" l="30776" r="0" t="11378"/>
          <a:stretch/>
        </p:blipFill>
        <p:spPr>
          <a:xfrm>
            <a:off x="7260950" y="2421975"/>
            <a:ext cx="1356100" cy="243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53" title="Chart"/>
          <p:cNvPicPr preferRelativeResize="0"/>
          <p:nvPr/>
        </p:nvPicPr>
        <p:blipFill rotWithShape="1">
          <a:blip r:embed="rId3">
            <a:alphaModFix/>
          </a:blip>
          <a:srcRect b="0" l="30776" r="0" t="11378"/>
          <a:stretch/>
        </p:blipFill>
        <p:spPr>
          <a:xfrm>
            <a:off x="4841400" y="2421975"/>
            <a:ext cx="1356100" cy="243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53" title="Chart"/>
          <p:cNvPicPr preferRelativeResize="0"/>
          <p:nvPr/>
        </p:nvPicPr>
        <p:blipFill rotWithShape="1">
          <a:blip r:embed="rId3">
            <a:alphaModFix/>
          </a:blip>
          <a:srcRect b="0" l="30776" r="0" t="11378"/>
          <a:stretch/>
        </p:blipFill>
        <p:spPr>
          <a:xfrm>
            <a:off x="2813038" y="2421975"/>
            <a:ext cx="1356100" cy="243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53" title="Chart"/>
          <p:cNvPicPr preferRelativeResize="0"/>
          <p:nvPr/>
        </p:nvPicPr>
        <p:blipFill rotWithShape="1">
          <a:blip r:embed="rId3">
            <a:alphaModFix/>
          </a:blip>
          <a:srcRect b="0" l="30776" r="0" t="11378"/>
          <a:stretch/>
        </p:blipFill>
        <p:spPr>
          <a:xfrm>
            <a:off x="784675" y="2421975"/>
            <a:ext cx="1356100" cy="243057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53"/>
          <p:cNvSpPr/>
          <p:nvPr/>
        </p:nvSpPr>
        <p:spPr>
          <a:xfrm>
            <a:off x="784675" y="2812150"/>
            <a:ext cx="7597200" cy="10659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Anna to fill out at end - dummy 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4"/>
          <p:cNvSpPr txBox="1"/>
          <p:nvPr>
            <p:ph type="title"/>
          </p:nvPr>
        </p:nvSpPr>
        <p:spPr>
          <a:xfrm>
            <a:off x="302400" y="250725"/>
            <a:ext cx="8710500" cy="6819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Availability alone is not sufficient - specific dishes also matter; thus, alongside MVP criteria, we have defined a set of minimum dishes by zone </a:t>
            </a:r>
            <a:endParaRPr sz="2000"/>
          </a:p>
        </p:txBody>
      </p:sp>
      <p:graphicFrame>
        <p:nvGraphicFramePr>
          <p:cNvPr id="307" name="Google Shape;307;p54"/>
          <p:cNvGraphicFramePr/>
          <p:nvPr/>
        </p:nvGraphicFramePr>
        <p:xfrm>
          <a:off x="470638" y="13685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{328FC008-3E05-4866-B52B-E69819C0F107}</a:tableStyleId>
              </a:tblPr>
              <a:tblGrid>
                <a:gridCol w="1379400"/>
                <a:gridCol w="2865925"/>
                <a:gridCol w="1555375"/>
                <a:gridCol w="2402025"/>
              </a:tblGrid>
              <a:tr h="28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Dish Group</a:t>
                      </a:r>
                      <a:endParaRPr b="1"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Description</a:t>
                      </a:r>
                      <a:endParaRPr b="1"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Example Dishes</a:t>
                      </a:r>
                      <a:endParaRPr b="1"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Requirement</a:t>
                      </a:r>
                      <a:endParaRPr b="1"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0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Core Drivers</a:t>
                      </a:r>
                      <a:endParaRPr b="1" sz="12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Dishes with both </a:t>
                      </a:r>
                      <a:r>
                        <a:rPr b="1" lang="en-GB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high customer demand and strong preference</a:t>
                      </a:r>
                      <a:endParaRPr sz="12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Indian Curry</a:t>
                      </a:r>
                      <a:endParaRPr sz="12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Protein &amp; Veg</a:t>
                      </a:r>
                      <a:br>
                        <a:rPr lang="en-GB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-GB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Noodles </a:t>
                      </a:r>
                      <a:endParaRPr sz="12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highlight>
                            <a:schemeClr val="accent4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100% coverage of these dishes</a:t>
                      </a:r>
                      <a:endParaRPr sz="1200">
                        <a:solidFill>
                          <a:schemeClr val="lt1"/>
                        </a:solidFill>
                        <a:highlight>
                          <a:schemeClr val="accent4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Demand Boosters</a:t>
                      </a:r>
                      <a:endParaRPr b="1" sz="12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Dishes with </a:t>
                      </a:r>
                      <a:r>
                        <a:rPr b="1" lang="en-GB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high demand but weaker preference</a:t>
                      </a:r>
                      <a:r>
                        <a:rPr lang="en-GB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(customers order them often, but don’t love them yet)</a:t>
                      </a:r>
                      <a:endParaRPr sz="12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Rice Bowl</a:t>
                      </a:r>
                      <a:endParaRPr sz="12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Pizza</a:t>
                      </a:r>
                      <a:endParaRPr sz="12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Katsu</a:t>
                      </a:r>
                      <a:endParaRPr sz="12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highlight>
                            <a:schemeClr val="accent4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50%+ coverage of these dishes</a:t>
                      </a:r>
                      <a:r>
                        <a:rPr b="1" lang="en-GB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b="1" sz="12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Work with PX / Ops to improve quality, recipe or presentation to turn them into Core Drivers.</a:t>
                      </a:r>
                      <a:endParaRPr sz="12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9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Preference Builders</a:t>
                      </a:r>
                      <a:endParaRPr b="1" sz="12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Dishes with </a:t>
                      </a:r>
                      <a:r>
                        <a:rPr b="1" lang="en-GB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strong preference but lower demand</a:t>
                      </a:r>
                      <a:r>
                        <a:rPr lang="en-GB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(loved by those who try them, but not widely discovered)</a:t>
                      </a:r>
                      <a:endParaRPr sz="12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Shepherd’s Pie</a:t>
                      </a:r>
                      <a:br>
                        <a:rPr lang="en-GB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-GB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Lasagne</a:t>
                      </a:r>
                      <a:br>
                        <a:rPr lang="en-GB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-GB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Fajitas</a:t>
                      </a:r>
                      <a:br>
                        <a:rPr lang="en-GB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-GB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Shawarma</a:t>
                      </a:r>
                      <a:endParaRPr sz="12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  <a:highlight>
                            <a:schemeClr val="accent4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50%+ coverage of these dishes</a:t>
                      </a:r>
                      <a:endParaRPr b="1" sz="1200">
                        <a:solidFill>
                          <a:schemeClr val="lt1"/>
                        </a:solidFill>
                        <a:highlight>
                          <a:schemeClr val="accent4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Invest in merchandising to drive demand.</a:t>
                      </a:r>
                      <a:endParaRPr sz="12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8" name="Google Shape;308;p54"/>
          <p:cNvSpPr/>
          <p:nvPr/>
        </p:nvSpPr>
        <p:spPr>
          <a:xfrm>
            <a:off x="773400" y="2419875"/>
            <a:ext cx="7597200" cy="1326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Anna and Fran to</a:t>
            </a:r>
            <a:r>
              <a:rPr lang="en-GB">
                <a:latin typeface="Roboto"/>
                <a:ea typeface="Roboto"/>
                <a:cs typeface="Roboto"/>
                <a:sym typeface="Roboto"/>
              </a:rPr>
              <a:t> fill out at end - once we have the ‘final’ ratings by dish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5"/>
          <p:cNvSpPr txBox="1"/>
          <p:nvPr>
            <p:ph type="title"/>
          </p:nvPr>
        </p:nvSpPr>
        <p:spPr>
          <a:xfrm>
            <a:off x="302400" y="250725"/>
            <a:ext cx="8710500" cy="6819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We have grouped dishes by overall attractiveness, using a combination of demand signals and customer preference indicators</a:t>
            </a:r>
            <a:endParaRPr sz="2000"/>
          </a:p>
        </p:txBody>
      </p:sp>
      <p:graphicFrame>
        <p:nvGraphicFramePr>
          <p:cNvPr id="314" name="Google Shape;314;p55"/>
          <p:cNvGraphicFramePr/>
          <p:nvPr/>
        </p:nvGraphicFramePr>
        <p:xfrm>
          <a:off x="470638" y="10210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{328FC008-3E05-4866-B52B-E69819C0F107}</a:tableStyleId>
              </a:tblPr>
              <a:tblGrid>
                <a:gridCol w="696275"/>
                <a:gridCol w="1125325"/>
                <a:gridCol w="2782775"/>
                <a:gridCol w="824475"/>
                <a:gridCol w="713400"/>
                <a:gridCol w="2060475"/>
              </a:tblGrid>
              <a:tr h="282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Grouping</a:t>
                      </a:r>
                      <a:endParaRPr b="1" sz="8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Measure</a:t>
                      </a:r>
                      <a:endParaRPr b="1" sz="8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Description</a:t>
                      </a:r>
                      <a:endParaRPr b="1" sz="8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</a:t>
                      </a:r>
                      <a:endParaRPr b="1" sz="8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Weight</a:t>
                      </a:r>
                      <a:endParaRPr b="1" sz="8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Rationale</a:t>
                      </a:r>
                      <a:endParaRPr b="1" sz="8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92500"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Demand Indicators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Average Sales per Dish </a:t>
                      </a:r>
                      <a:br>
                        <a:rPr b="1" lang="en-GB" sz="8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i="1" lang="en-GB" sz="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(Existing Dishes Only)</a:t>
                      </a:r>
                      <a:endParaRPr i="1" sz="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orders for the dish divided by the number of times it is listed (accounting for both variations in dish and number of zones it is listed in).</a:t>
                      </a:r>
                      <a:endParaRPr sz="8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Looker</a:t>
                      </a:r>
                      <a:endParaRPr sz="8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Indicates demand for dish, </a:t>
                      </a:r>
                      <a:r>
                        <a:rPr lang="en-GB" sz="8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normalised for availability</a:t>
                      </a:r>
                      <a:endParaRPr sz="8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93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% of Relevant Zones Where Dish Ranks Top #5</a:t>
                      </a:r>
                      <a:br>
                        <a:rPr b="1" lang="en-GB" sz="8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i="1" lang="en-GB" sz="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(Existing Dishes Only)</a:t>
                      </a:r>
                      <a:endParaRPr b="1" sz="8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Percentage of zones in which the dish is a top 5 selling item, considering only zones where the dish is available</a:t>
                      </a:r>
                      <a:endParaRPr sz="8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Looker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Indicates demand for dish, </a:t>
                      </a:r>
                      <a:r>
                        <a:rPr lang="en-GB" sz="8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normalised for both availability and zone-level demand differences (e.g. higher baseline volumes in Core London zones)</a:t>
                      </a:r>
                      <a:endParaRPr sz="8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93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Open-Text Requests for Dish</a:t>
                      </a:r>
                      <a:endParaRPr b="1" sz="8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(All Dishes))</a:t>
                      </a:r>
                      <a:endParaRPr b="1" sz="8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lt1"/>
                          </a:solidFill>
                          <a:highlight>
                            <a:schemeClr val="accent4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[Fran to edit: Number of times a dish is mentioned when customers are asked what they would like to see added]</a:t>
                      </a:r>
                      <a:endParaRPr sz="800">
                        <a:solidFill>
                          <a:schemeClr val="lt1"/>
                        </a:solidFill>
                        <a:highlight>
                          <a:schemeClr val="accent4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lt1"/>
                          </a:solidFill>
                          <a:highlight>
                            <a:schemeClr val="accent4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Post-Launch Survey</a:t>
                      </a:r>
                      <a:endParaRPr sz="800">
                        <a:solidFill>
                          <a:schemeClr val="lt1"/>
                        </a:solidFill>
                        <a:highlight>
                          <a:schemeClr val="accent4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highlight>
                          <a:schemeClr val="accent4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lt1"/>
                          </a:solidFill>
                          <a:highlight>
                            <a:schemeClr val="accent4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[Fran to edit: Captures explicit unmet demand for dish]</a:t>
                      </a:r>
                      <a:endParaRPr b="1" sz="800">
                        <a:solidFill>
                          <a:schemeClr val="lt1"/>
                        </a:solidFill>
                        <a:highlight>
                          <a:schemeClr val="accent4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875">
                <a:tc row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Consumer Preference Indicators</a:t>
                      </a:r>
                      <a:endParaRPr b="1" sz="8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Deliveroo Rating</a:t>
                      </a:r>
                      <a:br>
                        <a:rPr b="1" lang="en-GB" sz="8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i="1" lang="en-GB" sz="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(Existing Dishes Only)</a:t>
                      </a:r>
                      <a:endParaRPr b="1" sz="8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Average rating for the dish on Family Dinneroo  orders</a:t>
                      </a:r>
                      <a:endParaRPr sz="8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Looker</a:t>
                      </a:r>
                      <a:endParaRPr sz="8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Measures overall consumer satisfaction with the dish</a:t>
                      </a:r>
                      <a:endParaRPr sz="8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1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Meal Satisfaction Score</a:t>
                      </a:r>
                      <a:br>
                        <a:rPr b="1" lang="en-GB" sz="8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i="1" lang="en-GB" sz="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(Existing Dishes Only)</a:t>
                      </a:r>
                      <a:endParaRPr b="1" sz="8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Percentage of cx who report being “satisfied” or “very satisfied” with the dish</a:t>
                      </a:r>
                      <a:endParaRPr sz="8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Post Order Survey </a:t>
                      </a:r>
                      <a:endParaRPr sz="8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3961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Repeat Intent Score</a:t>
                      </a:r>
                      <a:br>
                        <a:rPr b="1" lang="en-GB" sz="8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i="1" lang="en-GB" sz="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(Existing Dishes Only)</a:t>
                      </a:r>
                      <a:endParaRPr b="1" sz="8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Percentage of customers who are “likely” or “very likely” to order the same dish again</a:t>
                      </a:r>
                      <a:endParaRPr sz="8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Post Order Survey </a:t>
                      </a:r>
                      <a:endParaRPr sz="8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3961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Dish Suitability Rating</a:t>
                      </a:r>
                      <a:br>
                        <a:rPr b="1" lang="en-GB" sz="8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i="1" lang="en-GB" sz="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(New Dishes Only)</a:t>
                      </a:r>
                      <a:endParaRPr b="1" sz="8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lt1"/>
                          </a:solidFill>
                          <a:highlight>
                            <a:schemeClr val="accent4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[Fran to edit: Suitability score out of 5 based on frequency of consumption, difficulty to cook at home, and desire to see the dish on the app]</a:t>
                      </a:r>
                      <a:endParaRPr sz="800">
                        <a:solidFill>
                          <a:schemeClr val="lt1"/>
                        </a:solidFill>
                        <a:highlight>
                          <a:schemeClr val="accent4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lt1"/>
                          </a:solidFill>
                          <a:highlight>
                            <a:schemeClr val="accent4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Pre-Launch </a:t>
                      </a:r>
                      <a:r>
                        <a:rPr lang="en-GB" sz="800">
                          <a:solidFill>
                            <a:schemeClr val="lt1"/>
                          </a:solidFill>
                          <a:highlight>
                            <a:schemeClr val="accent4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R&amp;I Research </a:t>
                      </a:r>
                      <a:endParaRPr sz="800">
                        <a:solidFill>
                          <a:schemeClr val="lt1"/>
                        </a:solidFill>
                        <a:highlight>
                          <a:schemeClr val="accent4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chemeClr val="lt1"/>
                        </a:solidFill>
                        <a:highlight>
                          <a:schemeClr val="accent4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lt1"/>
                          </a:solidFill>
                          <a:highlight>
                            <a:schemeClr val="accent4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[Fran to edit: Provides early, survey-driven insight into consumer appeal of dish]</a:t>
                      </a:r>
                      <a:endParaRPr sz="800">
                        <a:solidFill>
                          <a:schemeClr val="lt1"/>
                        </a:solidFill>
                        <a:highlight>
                          <a:schemeClr val="accent4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6"/>
          <p:cNvSpPr txBox="1"/>
          <p:nvPr>
            <p:ph type="title"/>
          </p:nvPr>
        </p:nvSpPr>
        <p:spPr>
          <a:xfrm>
            <a:off x="302400" y="250725"/>
            <a:ext cx="8710500" cy="6819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This can be seen in the Demand X Consumer Preference Matrix</a:t>
            </a:r>
            <a:endParaRPr sz="2000"/>
          </a:p>
        </p:txBody>
      </p:sp>
      <p:pic>
        <p:nvPicPr>
          <p:cNvPr id="320" name="Google Shape;320;p56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850" y="932625"/>
            <a:ext cx="6309330" cy="3906078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56"/>
          <p:cNvSpPr/>
          <p:nvPr/>
        </p:nvSpPr>
        <p:spPr>
          <a:xfrm>
            <a:off x="3753375" y="1172350"/>
            <a:ext cx="2814900" cy="1587000"/>
          </a:xfrm>
          <a:prstGeom prst="rect">
            <a:avLst/>
          </a:prstGeom>
          <a:solidFill>
            <a:srgbClr val="D9EAD3">
              <a:alpha val="3037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p56"/>
          <p:cNvSpPr/>
          <p:nvPr/>
        </p:nvSpPr>
        <p:spPr>
          <a:xfrm>
            <a:off x="938469" y="2759350"/>
            <a:ext cx="2814900" cy="1587000"/>
          </a:xfrm>
          <a:prstGeom prst="rect">
            <a:avLst/>
          </a:prstGeom>
          <a:solidFill>
            <a:srgbClr val="F4CCCC">
              <a:alpha val="493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56"/>
          <p:cNvSpPr/>
          <p:nvPr/>
        </p:nvSpPr>
        <p:spPr>
          <a:xfrm>
            <a:off x="3753375" y="2759350"/>
            <a:ext cx="2814900" cy="1587000"/>
          </a:xfrm>
          <a:prstGeom prst="rect">
            <a:avLst/>
          </a:prstGeom>
          <a:solidFill>
            <a:srgbClr val="FFE599">
              <a:alpha val="329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p56"/>
          <p:cNvSpPr/>
          <p:nvPr/>
        </p:nvSpPr>
        <p:spPr>
          <a:xfrm>
            <a:off x="938469" y="1172350"/>
            <a:ext cx="2814900" cy="1587000"/>
          </a:xfrm>
          <a:prstGeom prst="rect">
            <a:avLst/>
          </a:prstGeom>
          <a:solidFill>
            <a:srgbClr val="FFE599">
              <a:alpha val="329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56"/>
          <p:cNvSpPr/>
          <p:nvPr/>
        </p:nvSpPr>
        <p:spPr>
          <a:xfrm>
            <a:off x="5259075" y="1172350"/>
            <a:ext cx="13092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Core Drivers</a:t>
            </a:r>
            <a:endParaRPr b="1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p56"/>
          <p:cNvSpPr/>
          <p:nvPr/>
        </p:nvSpPr>
        <p:spPr>
          <a:xfrm>
            <a:off x="4956375" y="4010350"/>
            <a:ext cx="16119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</a:rPr>
              <a:t>Demand Boosters</a:t>
            </a:r>
            <a:endParaRPr b="1">
              <a:solidFill>
                <a:srgbClr val="BF9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56"/>
          <p:cNvSpPr/>
          <p:nvPr/>
        </p:nvSpPr>
        <p:spPr>
          <a:xfrm>
            <a:off x="986475" y="1172350"/>
            <a:ext cx="19329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BF9000"/>
                </a:solidFill>
                <a:latin typeface="Roboto"/>
                <a:ea typeface="Roboto"/>
                <a:cs typeface="Roboto"/>
                <a:sym typeface="Roboto"/>
              </a:rPr>
              <a:t>Preference Drivers</a:t>
            </a:r>
            <a:endParaRPr b="1">
              <a:solidFill>
                <a:srgbClr val="BF9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p56"/>
          <p:cNvSpPr/>
          <p:nvPr/>
        </p:nvSpPr>
        <p:spPr>
          <a:xfrm>
            <a:off x="986475" y="4010350"/>
            <a:ext cx="19329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Deprioritised</a:t>
            </a:r>
            <a:endParaRPr b="1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56"/>
          <p:cNvSpPr/>
          <p:nvPr/>
        </p:nvSpPr>
        <p:spPr>
          <a:xfrm>
            <a:off x="773400" y="2419875"/>
            <a:ext cx="7597200" cy="1326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To add in naming and commentary once numbers complete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7"/>
          <p:cNvSpPr txBox="1"/>
          <p:nvPr>
            <p:ph type="title"/>
          </p:nvPr>
        </p:nvSpPr>
        <p:spPr>
          <a:xfrm>
            <a:off x="302400" y="250725"/>
            <a:ext cx="8710500" cy="6819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/>
              <a:t>Backup: </a:t>
            </a:r>
            <a:r>
              <a:rPr lang="en-GB" sz="2000"/>
              <a:t>The data for each indicator was collected, normalised to an index of 1 (where 1=average), and then multiplied by the relevant weighting</a:t>
            </a:r>
            <a:endParaRPr sz="2000"/>
          </a:p>
        </p:txBody>
      </p:sp>
      <p:graphicFrame>
        <p:nvGraphicFramePr>
          <p:cNvPr id="335" name="Google Shape;335;p57"/>
          <p:cNvGraphicFramePr/>
          <p:nvPr/>
        </p:nvGraphicFramePr>
        <p:xfrm>
          <a:off x="430425" y="1021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{2CC0AC44-3B3F-4032-9866-CB729F8D82DF}</a:tableStyleId>
              </a:tblPr>
              <a:tblGrid>
                <a:gridCol w="510300"/>
                <a:gridCol w="510300"/>
                <a:gridCol w="510300"/>
                <a:gridCol w="510300"/>
                <a:gridCol w="510300"/>
                <a:gridCol w="510300"/>
                <a:gridCol w="510300"/>
                <a:gridCol w="510300"/>
                <a:gridCol w="510300"/>
                <a:gridCol w="510300"/>
                <a:gridCol w="510300"/>
                <a:gridCol w="510300"/>
                <a:gridCol w="510300"/>
              </a:tblGrid>
              <a:tr h="18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Demand Indicators</a:t>
                      </a:r>
                      <a:endParaRPr b="1"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BDC6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Consumer Preference Indicators</a:t>
                      </a:r>
                      <a:endParaRPr b="1"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BDC6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3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Average Sales per Dish</a:t>
                      </a:r>
                      <a:endParaRPr b="1"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% of Relevant Zones Where Dish Ranks #1</a:t>
                      </a:r>
                      <a:endParaRPr b="1"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% of Relevant Zones Where Dish Ranks Top #5</a:t>
                      </a:r>
                      <a:endParaRPr b="1"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Open-Text Requests for Dish</a:t>
                      </a:r>
                      <a:endParaRPr b="1"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Deliveroo Rating</a:t>
                      </a:r>
                      <a:endParaRPr b="1"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Meal Satisfaction Score</a:t>
                      </a:r>
                      <a:endParaRPr b="1"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Repeat Intent Score</a:t>
                      </a:r>
                      <a:endParaRPr b="1"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Dish Suitability Rating</a:t>
                      </a:r>
                      <a:endParaRPr b="1"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Demand Strength</a:t>
                      </a:r>
                      <a:endParaRPr b="1"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Consumer Preference</a:t>
                      </a:r>
                      <a:endParaRPr b="1"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BDC6"/>
                    </a:solidFill>
                  </a:tcPr>
                </a:tc>
              </a:tr>
              <a:tr h="176000">
                <a:tc rowSpan="2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Dishes on Dinneroo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Pasta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7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B8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25%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D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4.2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CCC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78%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B6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74%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2.5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0.6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0.9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Rice Bowl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29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6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11%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41%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EF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4.4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84%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7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77%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A39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2.5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1.2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1.0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Grain Bowl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21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B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E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18%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4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4.7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DCB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86%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9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90%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0.7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1.0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Noodles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28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7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F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37%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F3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4.5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EE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88%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88%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FF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2.5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1.2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1.0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3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South Asian / Indian Curry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98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BD0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32%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DAB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64%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5DB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4.7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ABC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93%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AD0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85%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3.2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2.9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1.1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3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East Asian Curry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18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C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AD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31%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8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4.4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87%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84%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3.6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0.9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1.0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4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Katsu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29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F6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19%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EB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41%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F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4.3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A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87%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85%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E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2.9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1.2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1.0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Biryani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86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BD7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54%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E4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4.6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8D5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91%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CE4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83%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F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2.5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1.0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Pizza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8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16%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EF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49%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E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4.1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B8B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81%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C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75%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8B8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2.0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1.0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0.9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Fried Rice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41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F0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E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17%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E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4.5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E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79%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BC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81%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D1C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2.5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1.0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1.0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4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Protein &amp; Veg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44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EE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6%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44%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D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4.4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71%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3.5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1.6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0.9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4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Chilli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B0A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9B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3.8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3.3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0.2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0.9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Fajitas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DA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C2B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4.2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D5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96%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100%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2.5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0.4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1.1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Lasagne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13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E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22%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4.6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5D4B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77%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AD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75%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86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3.3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0.6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0.9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Shawarma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10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1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B1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10%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B5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4.5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90%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E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86%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0.3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1.0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Tacos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C2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18%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7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4.1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AB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3.2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0.4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0.9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3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Burrito / Burrito Bowl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BBB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2.5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0.1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#DIV/0!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4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Quesadilla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B4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3.2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0.1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#DIV/0!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Nachos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0.0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#DIV/0!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Pho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136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56%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100%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4.6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DDC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92%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1D9B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89%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EA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2.2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4.2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1.1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Poke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58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0.1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#DIV/0!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Shepherd's Pie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11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AA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4.3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A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91%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E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100%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4.4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0.3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1.1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Sushi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32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F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8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56%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E2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4.7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93%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9CF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81%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D5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1.5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1.0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925">
                <a:tc rowSpan="11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Dishes not on Dinneroo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Casserole / Stew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91425" marL="9142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4.3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#DIV/0!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#DIV/0!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Risotto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3.6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#DIV/0!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#DIV/0!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Tagine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3.3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#DIV/0!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#DIV/0!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Paella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3.3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#DIV/0!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#DIV/0!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Pastry Pie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3.2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#DIV/0!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#DIV/0!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Jacket potato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2.9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#DIV/0!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#DIV/0!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9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Sausage &amp; mash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91425" marL="9142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2.9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#DIV/0!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#DIV/0!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60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Fish &amp; chips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2.5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#DIV/0!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#DIV/0!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4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Roast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3.5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#DIV/0!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#DIV/0!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4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Peking duck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#DIV/0!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#DIV/0!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4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Mezze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#DIV/0!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#DIV/0!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6" name="Google Shape;336;p57"/>
          <p:cNvSpPr/>
          <p:nvPr/>
        </p:nvSpPr>
        <p:spPr>
          <a:xfrm>
            <a:off x="773400" y="2419875"/>
            <a:ext cx="4914600" cy="1326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Update with final 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57"/>
          <p:cNvSpPr/>
          <p:nvPr/>
        </p:nvSpPr>
        <p:spPr>
          <a:xfrm>
            <a:off x="7425650" y="2471700"/>
            <a:ext cx="1032900" cy="1326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Add </a:t>
            </a:r>
            <a:r>
              <a:rPr lang="en-GB">
                <a:latin typeface="Roboto"/>
                <a:ea typeface="Roboto"/>
                <a:cs typeface="Roboto"/>
                <a:sym typeface="Roboto"/>
              </a:rPr>
              <a:t>commentary</a:t>
            </a:r>
            <a:r>
              <a:rPr lang="en-GB">
                <a:latin typeface="Roboto"/>
                <a:ea typeface="Roboto"/>
                <a:cs typeface="Roboto"/>
                <a:sym typeface="Roboto"/>
              </a:rPr>
              <a:t> explaining what we’re seeing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8"/>
          <p:cNvSpPr txBox="1"/>
          <p:nvPr>
            <p:ph type="title"/>
          </p:nvPr>
        </p:nvSpPr>
        <p:spPr>
          <a:xfrm>
            <a:off x="302400" y="250725"/>
            <a:ext cx="8710500" cy="6819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Very few zones m</a:t>
            </a:r>
            <a:r>
              <a:rPr lang="en-GB" sz="2000"/>
              <a:t>eet these dish-level criteria today, highlighting a material gap in our ability to meet consumer demand</a:t>
            </a:r>
            <a:endParaRPr sz="2000"/>
          </a:p>
        </p:txBody>
      </p:sp>
      <p:sp>
        <p:nvSpPr>
          <p:cNvPr id="343" name="Google Shape;343;p58"/>
          <p:cNvSpPr/>
          <p:nvPr/>
        </p:nvSpPr>
        <p:spPr>
          <a:xfrm>
            <a:off x="784675" y="1703150"/>
            <a:ext cx="7597200" cy="27426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Anna to fill out at end - once we have the ‘final’ ratings by dish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9"/>
          <p:cNvSpPr txBox="1"/>
          <p:nvPr>
            <p:ph type="title"/>
          </p:nvPr>
        </p:nvSpPr>
        <p:spPr>
          <a:xfrm>
            <a:off x="302400" y="250725"/>
            <a:ext cx="8710500" cy="6819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Several high level themes emerge</a:t>
            </a:r>
            <a:endParaRPr sz="2000"/>
          </a:p>
        </p:txBody>
      </p:sp>
      <p:sp>
        <p:nvSpPr>
          <p:cNvPr id="349" name="Google Shape;349;p59"/>
          <p:cNvSpPr/>
          <p:nvPr/>
        </p:nvSpPr>
        <p:spPr>
          <a:xfrm>
            <a:off x="784675" y="1703150"/>
            <a:ext cx="7597200" cy="27426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Anna and Fran to fill out at end - once we have the ‘final’ ratings by dish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60"/>
          <p:cNvSpPr txBox="1"/>
          <p:nvPr>
            <p:ph type="title"/>
          </p:nvPr>
        </p:nvSpPr>
        <p:spPr>
          <a:xfrm>
            <a:off x="302400" y="250725"/>
            <a:ext cx="8710500" cy="6819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/>
              <a:t>To strengthen dish supply, we can broaden the range with existing partners, but we will also need to onboard new ones </a:t>
            </a:r>
            <a:endParaRPr sz="2000"/>
          </a:p>
        </p:txBody>
      </p:sp>
      <p:graphicFrame>
        <p:nvGraphicFramePr>
          <p:cNvPr id="355" name="Google Shape;355;p60"/>
          <p:cNvGraphicFramePr/>
          <p:nvPr/>
        </p:nvGraphicFramePr>
        <p:xfrm>
          <a:off x="233500" y="14382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{2CC0AC44-3B3F-4032-9866-CB729F8D82DF}</a:tableStyleId>
              </a:tblPr>
              <a:tblGrid>
                <a:gridCol w="844375"/>
                <a:gridCol w="844375"/>
                <a:gridCol w="844375"/>
                <a:gridCol w="844375"/>
                <a:gridCol w="844375"/>
                <a:gridCol w="844375"/>
                <a:gridCol w="844375"/>
                <a:gridCol w="844375"/>
                <a:gridCol w="844375"/>
              </a:tblGrid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Coverage</a:t>
                      </a:r>
                      <a:endParaRPr b="1"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Asian</a:t>
                      </a:r>
                      <a:endParaRPr b="1"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Italian</a:t>
                      </a:r>
                      <a:endParaRPr b="1"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Indian</a:t>
                      </a:r>
                      <a:endParaRPr b="1"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Healthy</a:t>
                      </a:r>
                      <a:endParaRPr b="1"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Mexican</a:t>
                      </a:r>
                      <a:endParaRPr b="1"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Middle Eastern</a:t>
                      </a:r>
                      <a:endParaRPr b="1"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British</a:t>
                      </a:r>
                      <a:endParaRPr b="1"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BDC6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Wagamama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91%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PizzaExpress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89%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Pho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52%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Bill's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43%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Giggling Squid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42%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Prezzo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41%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Itsu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37%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Bella Italia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32%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Las Iguanas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32%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Iro Sushi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25%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Banana Tree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23%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LEON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21%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Dishoom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18%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Kokoro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17%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Zambrero UK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15%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Remedy Kitchen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14%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Yacob's Kitchen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atis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Asia Villa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Tiffin Tin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Farmer J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7%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Kricket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7%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Cocotte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6%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Ting Thai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Milano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Saravana Bhavan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Xian Street Food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Chaska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Umi Falafel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SOYO-SGroup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PIZAZA-SGroup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Zumuku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Cacciari's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Taste Of Hong Kong-DCN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Tadka House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Tula Ireland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Zumuku Sushi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TUK TUK-SGroup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Shaku Maku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Zaatar Rathmines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Salad Project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6" name="Google Shape;356;p60"/>
          <p:cNvSpPr/>
          <p:nvPr/>
        </p:nvSpPr>
        <p:spPr>
          <a:xfrm>
            <a:off x="784675" y="1703150"/>
            <a:ext cx="7597200" cy="27426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Anna to neaten and add commentary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Purpose = to show there are </a:t>
            </a:r>
            <a:r>
              <a:rPr lang="en-GB">
                <a:latin typeface="Roboto"/>
                <a:ea typeface="Roboto"/>
                <a:cs typeface="Roboto"/>
                <a:sym typeface="Roboto"/>
              </a:rPr>
              <a:t>very</a:t>
            </a:r>
            <a:r>
              <a:rPr lang="en-GB">
                <a:latin typeface="Roboto"/>
                <a:ea typeface="Roboto"/>
                <a:cs typeface="Roboto"/>
                <a:sym typeface="Roboto"/>
              </a:rPr>
              <a:t> few brands that have a lot of coverage AND can do multiple cuisines (basically bills and leon)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Therefore we can work with existing px, but we also need to </a:t>
            </a:r>
            <a:r>
              <a:rPr lang="en-GB">
                <a:latin typeface="Roboto"/>
                <a:ea typeface="Roboto"/>
                <a:cs typeface="Roboto"/>
                <a:sym typeface="Roboto"/>
              </a:rPr>
              <a:t>onboard</a:t>
            </a:r>
            <a:r>
              <a:rPr lang="en-GB">
                <a:latin typeface="Roboto"/>
                <a:ea typeface="Roboto"/>
                <a:cs typeface="Roboto"/>
                <a:sym typeface="Roboto"/>
              </a:rPr>
              <a:t> new px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61"/>
          <p:cNvSpPr txBox="1"/>
          <p:nvPr>
            <p:ph type="title"/>
          </p:nvPr>
        </p:nvSpPr>
        <p:spPr>
          <a:xfrm>
            <a:off x="302400" y="250725"/>
            <a:ext cx="8710500" cy="6819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Against each dish, we have mapped the coverage gaps and next steps (this can also be seen at the zone level HERE)</a:t>
            </a:r>
            <a:endParaRPr sz="2000"/>
          </a:p>
        </p:txBody>
      </p:sp>
      <p:graphicFrame>
        <p:nvGraphicFramePr>
          <p:cNvPr id="362" name="Google Shape;362;p61"/>
          <p:cNvGraphicFramePr/>
          <p:nvPr/>
        </p:nvGraphicFramePr>
        <p:xfrm>
          <a:off x="302425" y="1118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{2CC0AC44-3B3F-4032-9866-CB729F8D82DF}</a:tableStyleId>
              </a:tblPr>
              <a:tblGrid>
                <a:gridCol w="1244350"/>
                <a:gridCol w="1244350"/>
                <a:gridCol w="1244350"/>
                <a:gridCol w="1244350"/>
                <a:gridCol w="257150"/>
                <a:gridCol w="961550"/>
                <a:gridCol w="2514350"/>
              </a:tblGrid>
              <a:tr h="28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Demand Strength</a:t>
                      </a:r>
                      <a:endParaRPr b="1"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Consumer Preference</a:t>
                      </a:r>
                      <a:endParaRPr b="1"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Coverage Gap</a:t>
                      </a:r>
                      <a:endParaRPr b="1"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BD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Steps</a:t>
                      </a:r>
                      <a:endParaRPr b="1" sz="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6BDC6"/>
                    </a:solidFill>
                  </a:tcPr>
                </a:tc>
              </a:tr>
              <a:tr h="274575">
                <a:tc rowSpan="7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Core Drivers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South Asian / Indian Curry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2.9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1.1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74%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DD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Work with Bills, Leon to introduce curry menu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Add new Indian rx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91425" marL="9142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5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Biryani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2.5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1.0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79%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C7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Work with Bills, Leon to introduce curry menu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Add new Indian rx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91425" marL="9142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73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Pho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2.0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1.1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48%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C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Work with Asian providers to add pho and make menu more similar to pho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91425" marL="9142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78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Sushi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1.5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1.0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63%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Work with Asian providers to add sushi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91425" marL="9142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9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Katsu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1.2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1.0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BE8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Small gap - deprioritise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91425" marL="9142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73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Rice Bowl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1.2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1.0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C5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Small gap - ensure all Asian providers have one rice role available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91425" marL="9142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9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Noodles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1.2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1.0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21%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8CF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975">
                <a:tc rowSpan="5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Preference Drivers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Shepherd's Pie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0.3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1.1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57%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9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Fajitas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0.4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1.1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68%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Small gap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9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East Asian Curry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0.9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1.0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9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Grain Bowl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0.7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1.0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76%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D2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9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Shawarma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0.3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1.0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57%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7350"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Demand Boosters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Protein &amp; Veg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1.6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0.9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93%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938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Work with multi-cuisine providers to ensure there's protein and veg option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91425" marL="9142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9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Pizza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1.0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0.9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BD8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Small gap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975">
                <a:tc rowSpan="8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Deprioritised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Lasagne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0.6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0.9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66%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Deprioritised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9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Pasta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0.6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0.9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7BB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Deprioritised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9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Tacos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0.4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0.9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84%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B6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Deprioritised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9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Chilli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0.2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0.9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68%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Deprioritised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9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Burrito / Burrito Bowl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0.1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#DIV/0!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84%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B6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Deprioritised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9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Quesadilla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0.1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#DIV/0!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99%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Deprioritised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9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Poke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0.1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#DIV/0!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63%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D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Deprioritised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9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Nachos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0.0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#DIV/0!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85%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B1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Deprioritised</a:t>
                      </a:r>
                      <a:endParaRPr sz="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3" name="Google Shape;363;p61"/>
          <p:cNvSpPr/>
          <p:nvPr/>
        </p:nvSpPr>
        <p:spPr>
          <a:xfrm>
            <a:off x="784675" y="1703150"/>
            <a:ext cx="7597200" cy="27426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To fill in once we’ve done groupings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For </a:t>
            </a:r>
            <a:r>
              <a:rPr lang="en-GB">
                <a:latin typeface="Roboto"/>
                <a:ea typeface="Roboto"/>
                <a:cs typeface="Roboto"/>
                <a:sym typeface="Roboto"/>
              </a:rPr>
              <a:t>each</a:t>
            </a:r>
            <a:r>
              <a:rPr lang="en-GB">
                <a:latin typeface="Roboto"/>
                <a:ea typeface="Roboto"/>
                <a:cs typeface="Roboto"/>
                <a:sym typeface="Roboto"/>
              </a:rPr>
              <a:t> group show the coverage gap and suggest next steps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62"/>
          <p:cNvSpPr txBox="1"/>
          <p:nvPr>
            <p:ph type="title"/>
          </p:nvPr>
        </p:nvSpPr>
        <p:spPr>
          <a:xfrm>
            <a:off x="490250" y="731725"/>
            <a:ext cx="8520600" cy="6771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Appendix &gt;&gt;&gt; </a:t>
            </a:r>
            <a:endParaRPr/>
          </a:p>
        </p:txBody>
      </p:sp>
      <p:sp>
        <p:nvSpPr>
          <p:cNvPr id="369" name="Google Shape;369;p62"/>
          <p:cNvSpPr txBox="1"/>
          <p:nvPr>
            <p:ph idx="1" type="body"/>
          </p:nvPr>
        </p:nvSpPr>
        <p:spPr>
          <a:xfrm>
            <a:off x="490250" y="1505650"/>
            <a:ext cx="4269300" cy="3153900"/>
          </a:xfrm>
          <a:prstGeom prst="rect">
            <a:avLst/>
          </a:prstGeom>
        </p:spPr>
        <p:txBody>
          <a:bodyPr anchorCtr="0" anchor="t" bIns="92475" lIns="92475" spcFirstLastPara="1" rIns="92475" wrap="square" tIns="92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3"/>
          <p:cNvSpPr/>
          <p:nvPr/>
        </p:nvSpPr>
        <p:spPr>
          <a:xfrm>
            <a:off x="573700" y="4880325"/>
            <a:ext cx="85368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0E5454"/>
                </a:solidFill>
                <a:latin typeface="Roboto"/>
                <a:ea typeface="Roboto"/>
                <a:cs typeface="Roboto"/>
                <a:sym typeface="Roboto"/>
              </a:rPr>
              <a:t>1. Sums to &gt;155 as certain dishes offer &gt;1 protein / vegetarian option</a:t>
            </a:r>
            <a:endParaRPr sz="700">
              <a:solidFill>
                <a:srgbClr val="0E545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5" name="Google Shape;375;p63" title="Chart"/>
          <p:cNvPicPr preferRelativeResize="0"/>
          <p:nvPr/>
        </p:nvPicPr>
        <p:blipFill rotWithShape="1">
          <a:blip r:embed="rId3">
            <a:alphaModFix/>
          </a:blip>
          <a:srcRect b="0" l="9682" r="0" t="0"/>
          <a:stretch/>
        </p:blipFill>
        <p:spPr>
          <a:xfrm>
            <a:off x="1623800" y="1546561"/>
            <a:ext cx="6111852" cy="2847499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63"/>
          <p:cNvSpPr/>
          <p:nvPr/>
        </p:nvSpPr>
        <p:spPr>
          <a:xfrm>
            <a:off x="1737175" y="4390575"/>
            <a:ext cx="3072900" cy="255300"/>
          </a:xfrm>
          <a:prstGeom prst="roundRect">
            <a:avLst>
              <a:gd fmla="val 16667" name="adj"/>
            </a:avLst>
          </a:prstGeom>
          <a:solidFill>
            <a:srgbClr val="4DCB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Meat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p63"/>
          <p:cNvSpPr/>
          <p:nvPr/>
        </p:nvSpPr>
        <p:spPr>
          <a:xfrm>
            <a:off x="5121289" y="4390575"/>
            <a:ext cx="1332900" cy="255300"/>
          </a:xfrm>
          <a:prstGeom prst="roundRect">
            <a:avLst>
              <a:gd fmla="val 16667" name="adj"/>
            </a:avLst>
          </a:prstGeom>
          <a:solidFill>
            <a:srgbClr val="B9D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Fish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63"/>
          <p:cNvSpPr/>
          <p:nvPr/>
        </p:nvSpPr>
        <p:spPr>
          <a:xfrm>
            <a:off x="6713786" y="4390575"/>
            <a:ext cx="670500" cy="255300"/>
          </a:xfrm>
          <a:prstGeom prst="roundRect">
            <a:avLst>
              <a:gd fmla="val 16667" name="adj"/>
            </a:avLst>
          </a:prstGeom>
          <a:solidFill>
            <a:srgbClr val="F8B7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Veg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" name="Google Shape;379;p63"/>
          <p:cNvSpPr/>
          <p:nvPr/>
        </p:nvSpPr>
        <p:spPr>
          <a:xfrm>
            <a:off x="392498" y="1138275"/>
            <a:ext cx="63213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Dish by Protein / Vegetarian Option </a:t>
            </a:r>
            <a:r>
              <a:rPr b="1"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(#  Dishes) </a:t>
            </a:r>
            <a:br>
              <a:rPr b="1" lang="en-GB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i="1" lang="en-GB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As at 12-Dec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63"/>
          <p:cNvSpPr txBox="1"/>
          <p:nvPr>
            <p:ph type="title"/>
          </p:nvPr>
        </p:nvSpPr>
        <p:spPr>
          <a:xfrm>
            <a:off x="302400" y="250732"/>
            <a:ext cx="8536800" cy="681900"/>
          </a:xfrm>
          <a:prstGeom prst="rect">
            <a:avLst/>
          </a:prstGeom>
        </p:spPr>
        <p:txBody>
          <a:bodyPr anchorCtr="0" anchor="ctr" bIns="92475" lIns="92475" spcFirstLastPara="1" rIns="92475" wrap="square" tIns="92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Chicken options dominate, while other meats, fish, and vegetarian choices are less well represented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liveroo new">
  <a:themeElements>
    <a:clrScheme name="Simple Dark">
      <a:dk1>
        <a:srgbClr val="FFFFFF"/>
      </a:dk1>
      <a:lt1>
        <a:srgbClr val="0E5454"/>
      </a:lt1>
      <a:dk2>
        <a:srgbClr val="03706D"/>
      </a:dk2>
      <a:lt2>
        <a:srgbClr val="01857C"/>
      </a:lt2>
      <a:accent1>
        <a:srgbClr val="00CBBC"/>
      </a:accent1>
      <a:accent2>
        <a:srgbClr val="00211F"/>
      </a:accent2>
      <a:accent3>
        <a:srgbClr val="C67DE8"/>
      </a:accent3>
      <a:accent4>
        <a:srgbClr val="FFE066"/>
      </a:accent4>
      <a:accent5>
        <a:srgbClr val="8DBDFC"/>
      </a:accent5>
      <a:accent6>
        <a:srgbClr val="85DE5E"/>
      </a:accent6>
      <a:hlink>
        <a:srgbClr val="01857C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